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2F3C7E"/>
                </a:solidFill>
                <a:latin typeface="Arial"/>
              </a:defRPr>
            </a:pPr>
            <a:r>
              <a:rPr sz="1100" b="0" i="0" u="none" strike="noStrike">
                <a:solidFill>
                  <a:srgbClr val="2F3C7E"/>
                </a:solidFill>
                <a:latin typeface="Arial"/>
              </a:rPr>
              <a:t>Output tokens across 50 runs  [FILL IN]</a:t>
            </a:r>
          </a:p>
        </c:rich>
      </c:tx>
      <c:layout/>
      <c:overlay val="0"/>
    </c:title>
    <c:autoTitleDeleted val="0"/>
    <c:plotArea>
      <c:layout/>
      <c:barChart>
        <c:barDir val="col"/>
        <c:grouping val="clustered"/>
        <c:varyColors val="0"/>
        <c:ser>
          <c:idx val="0"/>
          <c:order val="0"/>
          <c:tx>
            <c:strRef>
              <c:f>Sheet1!$B$1</c:f>
              <c:strCache>
                <c:ptCount val="1"/>
                <c:pt idx="0">
                  <c:v>Output tokens</c:v>
                </c:pt>
              </c:strCache>
            </c:strRef>
          </c:tx>
          <c:spPr>
            <a:solidFill>
              <a:srgbClr val="F9616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Run 1-10</c:v>
                  </c:pt>
                  <c:pt idx="1">
                    <c:v>Run 11-20</c:v>
                  </c:pt>
                  <c:pt idx="2">
                    <c:v>Run 21-30</c:v>
                  </c:pt>
                  <c:pt idx="3">
                    <c:v>Run 31-40</c:v>
                  </c:pt>
                  <c:pt idx="4">
                    <c:v>Run 41-50</c:v>
                  </c:pt>
                </c:lvl>
              </c:multiLvlStrCache>
            </c:multiLvlStrRef>
          </c:cat>
          <c:val>
            <c:numRef>
              <c:f>Sheet1!$B$2:$B$6</c:f>
              <c:numCache>
                <c:formatCode>General</c:formatCode>
                <c:ptCount val="5"/>
                <c:pt idx="0">
                  <c:v>0</c:v>
                </c:pt>
                <c:pt idx="1">
                  <c:v>0</c:v>
                </c:pt>
                <c:pt idx="2">
                  <c:v>0</c:v>
                </c:pt>
                <c:pt idx="3">
                  <c:v>0</c:v>
                </c:pt>
                <c:pt idx="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3611880" y="822960"/>
            <a:ext cx="594360" cy="594360"/>
          </a:xfrm>
          <a:prstGeom prst="ellipse">
            <a:avLst/>
          </a:prstGeom>
          <a:solidFill>
            <a:srgbClr val="F96167"/>
          </a:solidFill>
          <a:ln w="25400">
            <a:solidFill>
              <a:srgbClr val="F9E795"/>
            </a:solidFill>
            <a:prstDash val="solid"/>
          </a:ln>
        </p:spPr>
      </p:sp>
      <p:sp>
        <p:nvSpPr>
          <p:cNvPr id="3" name="Text 1"/>
          <p:cNvSpPr/>
          <p:nvPr/>
        </p:nvSpPr>
        <p:spPr>
          <a:xfrm>
            <a:off x="3611880" y="822960"/>
            <a:ext cx="594360" cy="594360"/>
          </a:xfrm>
          <a:prstGeom prst="rect">
            <a:avLst/>
          </a:prstGeom>
          <a:noFill/>
          <a:ln/>
        </p:spPr>
        <p:txBody>
          <a:bodyPr wrap="square" lIns="0" tIns="0" rIns="0" bIns="0" rtlCol="0" anchor="ctr"/>
          <a:lstStyle/>
          <a:p>
            <a:pPr algn="ctr" indent="0" marL="0">
              <a:buNone/>
            </a:pPr>
            <a:r>
              <a:rPr lang="en-US" sz="2800" b="1" dirty="0">
                <a:solidFill>
                  <a:srgbClr val="FFF8E7"/>
                </a:solidFill>
                <a:latin typeface="Georgia" pitchFamily="34" charset="0"/>
                <a:ea typeface="Georgia" pitchFamily="34" charset="-122"/>
                <a:cs typeface="Georgia" pitchFamily="34" charset="-120"/>
              </a:rPr>
              <a:t>7</a:t>
            </a:r>
            <a:endParaRPr lang="en-US" sz="2800" dirty="0"/>
          </a:p>
        </p:txBody>
      </p:sp>
      <p:sp>
        <p:nvSpPr>
          <p:cNvPr id="4" name="Shape 2"/>
          <p:cNvSpPr/>
          <p:nvPr/>
        </p:nvSpPr>
        <p:spPr>
          <a:xfrm>
            <a:off x="4297680" y="822960"/>
            <a:ext cx="594360" cy="594360"/>
          </a:xfrm>
          <a:prstGeom prst="ellipse">
            <a:avLst/>
          </a:prstGeom>
          <a:solidFill>
            <a:srgbClr val="F9E795"/>
          </a:solidFill>
          <a:ln w="25400">
            <a:solidFill>
              <a:srgbClr val="F9E795"/>
            </a:solidFill>
            <a:prstDash val="solid"/>
          </a:ln>
        </p:spPr>
      </p:sp>
      <p:sp>
        <p:nvSpPr>
          <p:cNvPr id="5" name="Text 3"/>
          <p:cNvSpPr/>
          <p:nvPr/>
        </p:nvSpPr>
        <p:spPr>
          <a:xfrm>
            <a:off x="4297680" y="822960"/>
            <a:ext cx="594360" cy="594360"/>
          </a:xfrm>
          <a:prstGeom prst="rect">
            <a:avLst/>
          </a:prstGeom>
          <a:noFill/>
          <a:ln/>
        </p:spPr>
        <p:txBody>
          <a:bodyPr wrap="square" lIns="0" tIns="0" rIns="0" bIns="0" rtlCol="0" anchor="ctr"/>
          <a:lstStyle/>
          <a:p>
            <a:pPr algn="ctr" indent="0" marL="0">
              <a:buNone/>
            </a:pPr>
            <a:r>
              <a:rPr lang="en-US" sz="2800" b="1" dirty="0">
                <a:solidFill>
                  <a:srgbClr val="1A1A2E"/>
                </a:solidFill>
                <a:latin typeface="Georgia" pitchFamily="34" charset="0"/>
                <a:ea typeface="Georgia" pitchFamily="34" charset="-122"/>
                <a:cs typeface="Georgia" pitchFamily="34" charset="-120"/>
              </a:rPr>
              <a:t>7</a:t>
            </a:r>
            <a:endParaRPr lang="en-US" sz="2800" dirty="0"/>
          </a:p>
        </p:txBody>
      </p:sp>
      <p:sp>
        <p:nvSpPr>
          <p:cNvPr id="6" name="Shape 4"/>
          <p:cNvSpPr/>
          <p:nvPr/>
        </p:nvSpPr>
        <p:spPr>
          <a:xfrm>
            <a:off x="4983480" y="822960"/>
            <a:ext cx="594360" cy="594360"/>
          </a:xfrm>
          <a:prstGeom prst="ellipse">
            <a:avLst/>
          </a:prstGeom>
          <a:solidFill>
            <a:srgbClr val="F96167"/>
          </a:solidFill>
          <a:ln w="25400">
            <a:solidFill>
              <a:srgbClr val="F9E795"/>
            </a:solidFill>
            <a:prstDash val="solid"/>
          </a:ln>
        </p:spPr>
      </p:sp>
      <p:sp>
        <p:nvSpPr>
          <p:cNvPr id="7" name="Text 5"/>
          <p:cNvSpPr/>
          <p:nvPr/>
        </p:nvSpPr>
        <p:spPr>
          <a:xfrm>
            <a:off x="4983480" y="822960"/>
            <a:ext cx="594360" cy="594360"/>
          </a:xfrm>
          <a:prstGeom prst="rect">
            <a:avLst/>
          </a:prstGeom>
          <a:noFill/>
          <a:ln/>
        </p:spPr>
        <p:txBody>
          <a:bodyPr wrap="square" lIns="0" tIns="0" rIns="0" bIns="0" rtlCol="0" anchor="ctr"/>
          <a:lstStyle/>
          <a:p>
            <a:pPr algn="ctr" indent="0" marL="0">
              <a:buNone/>
            </a:pPr>
            <a:r>
              <a:rPr lang="en-US" sz="2800" b="1" dirty="0">
                <a:solidFill>
                  <a:srgbClr val="FFF8E7"/>
                </a:solidFill>
                <a:latin typeface="Georgia" pitchFamily="34" charset="0"/>
                <a:ea typeface="Georgia" pitchFamily="34" charset="-122"/>
                <a:cs typeface="Georgia" pitchFamily="34" charset="-120"/>
              </a:rPr>
              <a:t>7</a:t>
            </a:r>
            <a:endParaRPr lang="en-US" sz="2800" dirty="0"/>
          </a:p>
        </p:txBody>
      </p:sp>
      <p:sp>
        <p:nvSpPr>
          <p:cNvPr id="8" name="Text 6"/>
          <p:cNvSpPr/>
          <p:nvPr/>
        </p:nvSpPr>
        <p:spPr>
          <a:xfrm>
            <a:off x="457200" y="1737360"/>
            <a:ext cx="8229600" cy="502920"/>
          </a:xfrm>
          <a:prstGeom prst="rect">
            <a:avLst/>
          </a:prstGeom>
          <a:noFill/>
          <a:ln/>
        </p:spPr>
        <p:txBody>
          <a:bodyPr wrap="square" lIns="0" tIns="0" rIns="0" bIns="0" rtlCol="0" anchor="ctr"/>
          <a:lstStyle/>
          <a:p>
            <a:pPr algn="ctr" indent="0" marL="0">
              <a:buNone/>
            </a:pPr>
            <a:r>
              <a:rPr lang="en-US" sz="2800" b="1" spc="800" kern="0" dirty="0">
                <a:solidFill>
                  <a:srgbClr val="F9E795"/>
                </a:solidFill>
                <a:latin typeface="Georgia" pitchFamily="34" charset="0"/>
                <a:ea typeface="Georgia" pitchFamily="34" charset="-122"/>
                <a:cs typeface="Georgia" pitchFamily="34" charset="-120"/>
              </a:rPr>
              <a:t>THE ONE ARM</a:t>
            </a:r>
            <a:endParaRPr lang="en-US" sz="2800" dirty="0"/>
          </a:p>
        </p:txBody>
      </p:sp>
      <p:sp>
        <p:nvSpPr>
          <p:cNvPr id="9" name="Text 7"/>
          <p:cNvSpPr/>
          <p:nvPr/>
        </p:nvSpPr>
        <p:spPr>
          <a:xfrm>
            <a:off x="457200" y="2331720"/>
            <a:ext cx="8229600" cy="914400"/>
          </a:xfrm>
          <a:prstGeom prst="rect">
            <a:avLst/>
          </a:prstGeom>
          <a:noFill/>
          <a:ln/>
        </p:spPr>
        <p:txBody>
          <a:bodyPr wrap="square" lIns="0" tIns="0" rIns="0" bIns="0" rtlCol="0" anchor="ctr"/>
          <a:lstStyle/>
          <a:p>
            <a:pPr algn="ctr" indent="0" marL="0">
              <a:buNone/>
            </a:pPr>
            <a:r>
              <a:rPr lang="en-US" sz="5000" b="1" spc="400" kern="0" dirty="0">
                <a:solidFill>
                  <a:srgbClr val="FFF8E7"/>
                </a:solidFill>
                <a:latin typeface="Georgia" pitchFamily="34" charset="0"/>
                <a:ea typeface="Georgia" pitchFamily="34" charset="-122"/>
                <a:cs typeface="Georgia" pitchFamily="34" charset="-120"/>
              </a:rPr>
              <a:t>AI SLOT MACHINE</a:t>
            </a:r>
            <a:endParaRPr lang="en-US" sz="5000" dirty="0"/>
          </a:p>
        </p:txBody>
      </p:sp>
      <p:sp>
        <p:nvSpPr>
          <p:cNvPr id="10" name="Text 8"/>
          <p:cNvSpPr/>
          <p:nvPr/>
        </p:nvSpPr>
        <p:spPr>
          <a:xfrm>
            <a:off x="457200" y="3474720"/>
            <a:ext cx="8229600" cy="365760"/>
          </a:xfrm>
          <a:prstGeom prst="rect">
            <a:avLst/>
          </a:prstGeom>
          <a:noFill/>
          <a:ln/>
        </p:spPr>
        <p:txBody>
          <a:bodyPr wrap="square" rtlCol="0" anchor="ctr"/>
          <a:lstStyle/>
          <a:p>
            <a:pPr algn="ctr" indent="0" marL="0">
              <a:buNone/>
            </a:pPr>
            <a:r>
              <a:rPr lang="en-US" sz="1800" i="1" dirty="0">
                <a:solidFill>
                  <a:srgbClr val="F9E795"/>
                </a:solidFill>
                <a:latin typeface="Calibri" pitchFamily="34" charset="0"/>
                <a:ea typeface="Calibri" pitchFamily="34" charset="-122"/>
                <a:cs typeface="Calibri" pitchFamily="34" charset="-120"/>
              </a:rPr>
              <a:t>An Experiment in Prompt Variance</a:t>
            </a:r>
            <a:endParaRPr lang="en-US" sz="1800" dirty="0"/>
          </a:p>
        </p:txBody>
      </p:sp>
      <p:sp>
        <p:nvSpPr>
          <p:cNvPr id="11" name="Text 9"/>
          <p:cNvSpPr/>
          <p:nvPr/>
        </p:nvSpPr>
        <p:spPr>
          <a:xfrm>
            <a:off x="457200" y="4023360"/>
            <a:ext cx="8229600" cy="822960"/>
          </a:xfrm>
          <a:prstGeom prst="rect">
            <a:avLst/>
          </a:prstGeom>
          <a:noFill/>
          <a:ln/>
        </p:spPr>
        <p:txBody>
          <a:bodyPr wrap="square" rtlCol="0" anchor="ctr"/>
          <a:lstStyle/>
          <a:p>
            <a:pPr algn="ctr" indent="0" marL="0">
              <a:buNone/>
            </a:pPr>
            <a:r>
              <a:rPr lang="en-US" sz="1200" dirty="0">
                <a:solidFill>
                  <a:srgbClr val="FFF8E7"/>
                </a:solidFill>
                <a:latin typeface="Calibri" pitchFamily="34" charset="0"/>
                <a:ea typeface="Calibri" pitchFamily="34" charset="-122"/>
                <a:cs typeface="Calibri" pitchFamily="34" charset="-120"/>
              </a:rPr>
              <a:t>Team: [TEAM NAME]</a:t>
            </a:r>
            <a:endParaRPr lang="en-US" sz="1200" dirty="0"/>
          </a:p>
          <a:p>
            <a:pPr algn="ctr" indent="0" marL="0">
              <a:buNone/>
            </a:pPr>
            <a:r>
              <a:rPr lang="en-US" sz="1200" dirty="0">
                <a:solidFill>
                  <a:srgbClr val="FFF8E7"/>
                </a:solidFill>
                <a:latin typeface="Calibri" pitchFamily="34" charset="0"/>
                <a:ea typeface="Calibri" pitchFamily="34" charset="-122"/>
                <a:cs typeface="Calibri" pitchFamily="34" charset="-120"/>
              </a:rPr>
              <a:t>Members: [10 NAMES]</a:t>
            </a:r>
            <a:endParaRPr lang="en-US" sz="1200" dirty="0"/>
          </a:p>
          <a:p>
            <a:pPr algn="ctr" indent="0" marL="0">
              <a:buNone/>
            </a:pPr>
            <a:r>
              <a:rPr lang="en-US" sz="1200" dirty="0">
                <a:solidFill>
                  <a:srgbClr val="FFF8E7"/>
                </a:solidFill>
                <a:latin typeface="Calibri" pitchFamily="34" charset="0"/>
                <a:ea typeface="Calibri" pitchFamily="34" charset="-122"/>
                <a:cs typeface="Calibri" pitchFamily="34" charset="-120"/>
              </a:rPr>
              <a:t>Course: CSE 110  //  Date: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457200" y="502920"/>
            <a:ext cx="164592" cy="164592"/>
          </a:xfrm>
          <a:prstGeom prst="rect">
            <a:avLst/>
          </a:prstGeom>
          <a:solidFill>
            <a:srgbClr val="F96167"/>
          </a:solidFill>
          <a:ln/>
        </p:spPr>
      </p:sp>
      <p:sp>
        <p:nvSpPr>
          <p:cNvPr id="3" name="Text 1"/>
          <p:cNvSpPr/>
          <p:nvPr/>
        </p:nvSpPr>
        <p:spPr>
          <a:xfrm>
            <a:off x="731520" y="365760"/>
            <a:ext cx="7955280" cy="502920"/>
          </a:xfrm>
          <a:prstGeom prst="rect">
            <a:avLst/>
          </a:prstGeom>
          <a:noFill/>
          <a:ln/>
        </p:spPr>
        <p:txBody>
          <a:bodyPr wrap="square" lIns="0" tIns="0" rIns="0" bIns="0"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The Experiment</a:t>
            </a:r>
            <a:endParaRPr lang="en-US" sz="2800" dirty="0"/>
          </a:p>
        </p:txBody>
      </p:sp>
      <p:sp>
        <p:nvSpPr>
          <p:cNvPr id="4" name="Text 2"/>
          <p:cNvSpPr/>
          <p:nvPr/>
        </p:nvSpPr>
        <p:spPr>
          <a:xfrm>
            <a:off x="457200" y="1097280"/>
            <a:ext cx="4114800" cy="320040"/>
          </a:xfrm>
          <a:prstGeom prst="rect">
            <a:avLst/>
          </a:prstGeom>
          <a:noFill/>
          <a:ln/>
        </p:spPr>
        <p:txBody>
          <a:bodyPr wrap="square"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THE QUESTION</a:t>
            </a:r>
            <a:endParaRPr lang="en-US" sz="1100" dirty="0"/>
          </a:p>
        </p:txBody>
      </p:sp>
      <p:sp>
        <p:nvSpPr>
          <p:cNvPr id="5" name="Text 3"/>
          <p:cNvSpPr/>
          <p:nvPr/>
        </p:nvSpPr>
        <p:spPr>
          <a:xfrm>
            <a:off x="457200" y="1417320"/>
            <a:ext cx="4114800" cy="1463040"/>
          </a:xfrm>
          <a:prstGeom prst="rect">
            <a:avLst/>
          </a:prstGeom>
          <a:noFill/>
          <a:ln/>
        </p:spPr>
        <p:txBody>
          <a:bodyPr wrap="square" rtlCol="0" anchor="ctr"/>
          <a:lstStyle/>
          <a:p>
            <a:pPr indent="0" marL="0">
              <a:buNone/>
            </a:pPr>
            <a:r>
              <a:rPr lang="en-US" sz="1300" i="1" dirty="0">
                <a:solidFill>
                  <a:srgbClr val="1A1A2E"/>
                </a:solidFill>
                <a:latin typeface="Calibri" pitchFamily="34" charset="0"/>
                <a:ea typeface="Calibri" pitchFamily="34" charset="-122"/>
                <a:cs typeface="Calibri" pitchFamily="34" charset="-120"/>
              </a:rPr>
              <a:t>How much variation, drift, and quality spread do we see when the same prompt is run 50 times in clean sessions — and what does tightly constrained refinement actually buy us?</a:t>
            </a:r>
            <a:endParaRPr lang="en-US" sz="1300" dirty="0"/>
          </a:p>
        </p:txBody>
      </p:sp>
      <p:sp>
        <p:nvSpPr>
          <p:cNvPr id="6" name="Text 4"/>
          <p:cNvSpPr/>
          <p:nvPr/>
        </p:nvSpPr>
        <p:spPr>
          <a:xfrm>
            <a:off x="457200" y="3017520"/>
            <a:ext cx="4114800" cy="320040"/>
          </a:xfrm>
          <a:prstGeom prst="rect">
            <a:avLst/>
          </a:prstGeom>
          <a:noFill/>
          <a:ln/>
        </p:spPr>
        <p:txBody>
          <a:bodyPr wrap="square"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THE FROZEN PROMPT</a:t>
            </a:r>
            <a:endParaRPr lang="en-US" sz="1100" dirty="0"/>
          </a:p>
        </p:txBody>
      </p:sp>
      <p:sp>
        <p:nvSpPr>
          <p:cNvPr id="7" name="Shape 5"/>
          <p:cNvSpPr/>
          <p:nvPr/>
        </p:nvSpPr>
        <p:spPr>
          <a:xfrm>
            <a:off x="457200" y="3337560"/>
            <a:ext cx="4114800" cy="1371600"/>
          </a:xfrm>
          <a:prstGeom prst="rect">
            <a:avLst/>
          </a:prstGeom>
          <a:solidFill>
            <a:srgbClr val="FFFFFF"/>
          </a:solidFill>
          <a:ln w="12700">
            <a:solidFill>
              <a:srgbClr val="2F3C7E"/>
            </a:solidFill>
            <a:prstDash val="solid"/>
          </a:ln>
        </p:spPr>
      </p:sp>
      <p:sp>
        <p:nvSpPr>
          <p:cNvPr id="8" name="Shape 6"/>
          <p:cNvSpPr/>
          <p:nvPr/>
        </p:nvSpPr>
        <p:spPr>
          <a:xfrm>
            <a:off x="457200" y="3337560"/>
            <a:ext cx="73152" cy="1371600"/>
          </a:xfrm>
          <a:prstGeom prst="rect">
            <a:avLst/>
          </a:prstGeom>
          <a:solidFill>
            <a:srgbClr val="F96167"/>
          </a:solidFill>
          <a:ln/>
        </p:spPr>
      </p:sp>
      <p:sp>
        <p:nvSpPr>
          <p:cNvPr id="9" name="Text 7"/>
          <p:cNvSpPr/>
          <p:nvPr/>
        </p:nvSpPr>
        <p:spPr>
          <a:xfrm>
            <a:off x="685800" y="3429000"/>
            <a:ext cx="3794760" cy="1188720"/>
          </a:xfrm>
          <a:prstGeom prst="rect">
            <a:avLst/>
          </a:prstGeom>
          <a:noFill/>
          <a:ln/>
        </p:spPr>
        <p:txBody>
          <a:bodyPr wrap="square" rtlCol="0" anchor="t"/>
          <a:lstStyle/>
          <a:p>
            <a:pPr indent="0" marL="0">
              <a:buNone/>
            </a:pPr>
            <a:r>
              <a:rPr lang="en-US" sz="1000" i="1" dirty="0">
                <a:solidFill>
                  <a:srgbClr val="1A1A2E"/>
                </a:solidFill>
                <a:latin typeface="Consolas" pitchFamily="34" charset="0"/>
                <a:ea typeface="Consolas" pitchFamily="34" charset="-122"/>
                <a:cs typeface="Consolas" pitchFamily="34" charset="-120"/>
              </a:rPr>
              <a:t>"Create a slot machine app that uses vanilla web technology like HTML, CSS, JavaScript, and platform APIs. The slot machine should make fun of AI, as in you are winning tokens and spending tokens."</a:t>
            </a:r>
            <a:endParaRPr lang="en-US" sz="1000" dirty="0"/>
          </a:p>
        </p:txBody>
      </p:sp>
      <p:sp>
        <p:nvSpPr>
          <p:cNvPr id="10" name="Shape 8"/>
          <p:cNvSpPr/>
          <p:nvPr/>
        </p:nvSpPr>
        <p:spPr>
          <a:xfrm>
            <a:off x="4846320" y="1097280"/>
            <a:ext cx="3840480" cy="3611880"/>
          </a:xfrm>
          <a:prstGeom prst="rect">
            <a:avLst/>
          </a:prstGeom>
          <a:solidFill>
            <a:srgbClr val="2F3C7E"/>
          </a:solidFill>
          <a:ln/>
        </p:spPr>
      </p:sp>
      <p:sp>
        <p:nvSpPr>
          <p:cNvPr id="11" name="Text 9"/>
          <p:cNvSpPr/>
          <p:nvPr/>
        </p:nvSpPr>
        <p:spPr>
          <a:xfrm>
            <a:off x="5074920" y="1234440"/>
            <a:ext cx="3566160" cy="320040"/>
          </a:xfrm>
          <a:prstGeom prst="rect">
            <a:avLst/>
          </a:prstGeom>
          <a:noFill/>
          <a:ln/>
        </p:spPr>
        <p:txBody>
          <a:bodyPr wrap="square" rtlCol="0" anchor="ctr"/>
          <a:lstStyle/>
          <a:p>
            <a:pPr indent="0" marL="0">
              <a:buNone/>
            </a:pPr>
            <a:r>
              <a:rPr lang="en-US" sz="1200" b="1" spc="300" kern="0" dirty="0">
                <a:solidFill>
                  <a:srgbClr val="F9E795"/>
                </a:solidFill>
                <a:latin typeface="Calibri" pitchFamily="34" charset="0"/>
                <a:ea typeface="Calibri" pitchFamily="34" charset="-122"/>
                <a:cs typeface="Calibri" pitchFamily="34" charset="-120"/>
              </a:rPr>
              <a:t>EXPERIMENTAL SETUP</a:t>
            </a:r>
            <a:endParaRPr lang="en-US" sz="1200" dirty="0"/>
          </a:p>
        </p:txBody>
      </p:sp>
      <p:sp>
        <p:nvSpPr>
          <p:cNvPr id="12" name="Text 10"/>
          <p:cNvSpPr/>
          <p:nvPr/>
        </p:nvSpPr>
        <p:spPr>
          <a:xfrm>
            <a:off x="5074920" y="1600200"/>
            <a:ext cx="3566160" cy="3017520"/>
          </a:xfrm>
          <a:prstGeom prst="rect">
            <a:avLst/>
          </a:prstGeom>
          <a:noFill/>
          <a:ln/>
        </p:spPr>
        <p:txBody>
          <a:bodyPr wrap="square" rtlCol="0" anchor="t"/>
          <a:lstStyle/>
          <a:p>
            <a:pPr indent="0" marL="0">
              <a:spcAft>
                <a:spcPts val="400"/>
              </a:spcAft>
              <a:buNone/>
            </a:pPr>
            <a:r>
              <a:rPr lang="en-US" sz="1200" b="1" dirty="0">
                <a:solidFill>
                  <a:srgbClr val="F9E795"/>
                </a:solidFill>
                <a:latin typeface="Calibri" pitchFamily="34" charset="0"/>
                <a:ea typeface="Calibri" pitchFamily="34" charset="-122"/>
                <a:cs typeface="Calibri" pitchFamily="34" charset="-120"/>
              </a:rPr>
              <a:t>Tool:  </a:t>
            </a:r>
            <a:pPr indent="0" marL="0">
              <a:spcAft>
                <a:spcPts val="400"/>
              </a:spcAft>
              <a:buNone/>
            </a:pPr>
            <a:r>
              <a:rPr lang="en-US" sz="1200" dirty="0">
                <a:solidFill>
                  <a:srgbClr val="FFF8E7"/>
                </a:solidFill>
                <a:latin typeface="Calibri" pitchFamily="34" charset="0"/>
                <a:ea typeface="Calibri" pitchFamily="34" charset="-122"/>
                <a:cs typeface="Calibri" pitchFamily="34" charset="-120"/>
              </a:rPr>
              <a:t>Gemini Code Assist</a:t>
            </a:r>
            <a:endParaRPr lang="en-US" sz="1200" dirty="0"/>
          </a:p>
          <a:p>
            <a:pPr indent="0" marL="0">
              <a:spcAft>
                <a:spcPts val="400"/>
              </a:spcAft>
              <a:buNone/>
            </a:pPr>
            <a:r>
              <a:rPr lang="en-US" sz="1200" b="1" dirty="0">
                <a:solidFill>
                  <a:srgbClr val="F9E795"/>
                </a:solidFill>
                <a:latin typeface="Calibri" pitchFamily="34" charset="0"/>
                <a:ea typeface="Calibri" pitchFamily="34" charset="-122"/>
                <a:cs typeface="Calibri" pitchFamily="34" charset="-120"/>
              </a:rPr>
              <a:t>Model:  </a:t>
            </a:r>
            <a:pPr indent="0" marL="0">
              <a:spcAft>
                <a:spcPts val="400"/>
              </a:spcAft>
              <a:buNone/>
            </a:pPr>
            <a:r>
              <a:rPr lang="en-US" sz="1200" dirty="0">
                <a:solidFill>
                  <a:srgbClr val="FFF8E7"/>
                </a:solidFill>
                <a:latin typeface="Calibri" pitchFamily="34" charset="0"/>
                <a:ea typeface="Calibri" pitchFamily="34" charset="-122"/>
                <a:cs typeface="Calibri" pitchFamily="34" charset="-120"/>
              </a:rPr>
              <a:t>[MODEL + VERSION STRING]</a:t>
            </a:r>
            <a:endParaRPr lang="en-US" sz="1200" dirty="0"/>
          </a:p>
          <a:p>
            <a:pPr indent="0" marL="0">
              <a:spcAft>
                <a:spcPts val="400"/>
              </a:spcAft>
              <a:buNone/>
            </a:pPr>
            <a:r>
              <a:rPr lang="en-US" sz="1200" b="1" dirty="0">
                <a:solidFill>
                  <a:srgbClr val="F9E795"/>
                </a:solidFill>
                <a:latin typeface="Calibri" pitchFamily="34" charset="0"/>
                <a:ea typeface="Calibri" pitchFamily="34" charset="-122"/>
                <a:cs typeface="Calibri" pitchFamily="34" charset="-120"/>
              </a:rPr>
              <a:t>Harness:  </a:t>
            </a:r>
            <a:pPr indent="0" marL="0">
              <a:spcAft>
                <a:spcPts val="400"/>
              </a:spcAft>
              <a:buNone/>
            </a:pPr>
            <a:r>
              <a:rPr lang="en-US" sz="1200" dirty="0">
                <a:solidFill>
                  <a:srgbClr val="FFF8E7"/>
                </a:solidFill>
                <a:latin typeface="Calibri" pitchFamily="34" charset="0"/>
                <a:ea typeface="Calibri" pitchFamily="34" charset="-122"/>
                <a:cs typeface="Calibri" pitchFamily="34" charset="-120"/>
              </a:rPr>
              <a:t>[CLI / IDE EXT. / VERSION]</a:t>
            </a:r>
            <a:endParaRPr lang="en-US" sz="1200" dirty="0"/>
          </a:p>
          <a:p>
            <a:pPr indent="0" marL="0">
              <a:spcAft>
                <a:spcPts val="400"/>
              </a:spcAft>
              <a:buNone/>
            </a:pPr>
            <a:r>
              <a:rPr lang="en-US" sz="1200" b="1" dirty="0">
                <a:solidFill>
                  <a:srgbClr val="F9E795"/>
                </a:solidFill>
                <a:latin typeface="Calibri" pitchFamily="34" charset="0"/>
                <a:ea typeface="Calibri" pitchFamily="34" charset="-122"/>
                <a:cs typeface="Calibri" pitchFamily="34" charset="-120"/>
              </a:rPr>
              <a:t>Total runs:  </a:t>
            </a:r>
            <a:pPr indent="0" marL="0">
              <a:spcAft>
                <a:spcPts val="400"/>
              </a:spcAft>
              <a:buNone/>
            </a:pPr>
            <a:r>
              <a:rPr lang="en-US" sz="1200" dirty="0">
                <a:solidFill>
                  <a:srgbClr val="FFF8E7"/>
                </a:solidFill>
                <a:latin typeface="Calibri" pitchFamily="34" charset="0"/>
                <a:ea typeface="Calibri" pitchFamily="34" charset="-122"/>
                <a:cs typeface="Calibri" pitchFamily="34" charset="-120"/>
              </a:rPr>
              <a:t>50 baseline + 16 refinement</a:t>
            </a:r>
            <a:endParaRPr lang="en-US" sz="1200" dirty="0"/>
          </a:p>
          <a:p>
            <a:pPr indent="0" marL="0">
              <a:spcAft>
                <a:spcPts val="400"/>
              </a:spcAft>
              <a:buNone/>
            </a:pPr>
            <a:r>
              <a:rPr lang="en-US" sz="1200" b="1" dirty="0">
                <a:solidFill>
                  <a:srgbClr val="F9E795"/>
                </a:solidFill>
                <a:latin typeface="Calibri" pitchFamily="34" charset="0"/>
                <a:ea typeface="Calibri" pitchFamily="34" charset="-122"/>
                <a:cs typeface="Calibri" pitchFamily="34" charset="-120"/>
              </a:rPr>
              <a:t>Sessions:  </a:t>
            </a:r>
            <a:pPr indent="0" marL="0">
              <a:spcAft>
                <a:spcPts val="400"/>
              </a:spcAft>
              <a:buNone/>
            </a:pPr>
            <a:r>
              <a:rPr lang="en-US" sz="1200" dirty="0">
                <a:solidFill>
                  <a:srgbClr val="FFF8E7"/>
                </a:solidFill>
                <a:latin typeface="Calibri" pitchFamily="34" charset="0"/>
                <a:ea typeface="Calibri" pitchFamily="34" charset="-122"/>
                <a:cs typeface="Calibri" pitchFamily="34" charset="-120"/>
              </a:rPr>
              <a:t>Fresh for every run, no memory</a:t>
            </a:r>
            <a:endParaRPr lang="en-US" sz="1200" dirty="0"/>
          </a:p>
          <a:p>
            <a:pPr indent="0" marL="0">
              <a:spcAft>
                <a:spcPts val="400"/>
              </a:spcAft>
              <a:buNone/>
            </a:pPr>
            <a:r>
              <a:rPr lang="en-US" sz="1200" b="1" dirty="0">
                <a:solidFill>
                  <a:srgbClr val="F9E795"/>
                </a:solidFill>
                <a:latin typeface="Calibri" pitchFamily="34" charset="0"/>
                <a:ea typeface="Calibri" pitchFamily="34" charset="-122"/>
                <a:cs typeface="Calibri" pitchFamily="34" charset="-120"/>
              </a:rPr>
              <a:t>Constraint:  </a:t>
            </a:r>
            <a:pPr indent="0" marL="0">
              <a:spcAft>
                <a:spcPts val="400"/>
              </a:spcAft>
              <a:buNone/>
            </a:pPr>
            <a:r>
              <a:rPr lang="en-US" sz="1200" dirty="0">
                <a:solidFill>
                  <a:srgbClr val="FFF8E7"/>
                </a:solidFill>
                <a:latin typeface="Calibri" pitchFamily="34" charset="0"/>
                <a:ea typeface="Calibri" pitchFamily="34" charset="-122"/>
                <a:cs typeface="Calibri" pitchFamily="34" charset="-120"/>
              </a:rPr>
              <a:t>Zero hand-edits to any code</a:t>
            </a:r>
            <a:endParaRPr lang="en-US" sz="1200" dirty="0"/>
          </a:p>
          <a:p>
            <a:pPr indent="0" marL="0">
              <a:spcAft>
                <a:spcPts val="400"/>
              </a:spcAft>
              <a:buNone/>
            </a:pPr>
            <a:r>
              <a:rPr lang="en-US" sz="1200" b="1" dirty="0">
                <a:solidFill>
                  <a:srgbClr val="F9E795"/>
                </a:solidFill>
                <a:latin typeface="Calibri" pitchFamily="34" charset="0"/>
                <a:ea typeface="Calibri" pitchFamily="34" charset="-122"/>
                <a:cs typeface="Calibri" pitchFamily="34" charset="-120"/>
              </a:rPr>
              <a:t>Refinement cap:  </a:t>
            </a:r>
            <a:pPr indent="0" marL="0">
              <a:spcAft>
                <a:spcPts val="400"/>
              </a:spcAft>
              <a:buNone/>
            </a:pPr>
            <a:r>
              <a:rPr lang="en-US" sz="1200" dirty="0">
                <a:solidFill>
                  <a:srgbClr val="FFF8E7"/>
                </a:solidFill>
                <a:latin typeface="Calibri" pitchFamily="34" charset="0"/>
                <a:ea typeface="Calibri" pitchFamily="34" charset="-122"/>
                <a:cs typeface="Calibri" pitchFamily="34" charset="-120"/>
              </a:rPr>
              <a:t>≤200 words, one shot each</a:t>
            </a:r>
            <a:endParaRPr lang="en-US" sz="1200" dirty="0"/>
          </a:p>
        </p:txBody>
      </p:sp>
      <p:sp>
        <p:nvSpPr>
          <p:cNvPr id="13" name="Shape 11"/>
          <p:cNvSpPr/>
          <p:nvPr/>
        </p:nvSpPr>
        <p:spPr>
          <a:xfrm>
            <a:off x="0" y="4937760"/>
            <a:ext cx="9144000" cy="205740"/>
          </a:xfrm>
          <a:prstGeom prst="rect">
            <a:avLst/>
          </a:prstGeom>
          <a:solidFill>
            <a:srgbClr val="2F3C7E"/>
          </a:solidFill>
          <a:ln/>
        </p:spPr>
      </p:sp>
      <p:sp>
        <p:nvSpPr>
          <p:cNvPr id="14" name="Text 12"/>
          <p:cNvSpPr/>
          <p:nvPr/>
        </p:nvSpPr>
        <p:spPr>
          <a:xfrm>
            <a:off x="365760" y="4937760"/>
            <a:ext cx="5486400" cy="205740"/>
          </a:xfrm>
          <a:prstGeom prst="rect">
            <a:avLst/>
          </a:prstGeom>
          <a:noFill/>
          <a:ln/>
        </p:spPr>
        <p:txBody>
          <a:bodyPr wrap="square" rtlCol="0" anchor="ctr"/>
          <a:lstStyle/>
          <a:p>
            <a:pPr indent="0" marL="0">
              <a:buNone/>
            </a:pPr>
            <a:r>
              <a:rPr lang="en-US" sz="900" spc="200" kern="0" dirty="0">
                <a:solidFill>
                  <a:srgbClr val="F9E795"/>
                </a:solidFill>
                <a:latin typeface="Calibri" pitchFamily="34" charset="0"/>
                <a:ea typeface="Calibri" pitchFamily="34" charset="-122"/>
                <a:cs typeface="Calibri" pitchFamily="34" charset="-120"/>
              </a:rPr>
              <a:t>ONE ARM AI SLOT MACHINE  //  CSE 110</a:t>
            </a:r>
            <a:endParaRPr lang="en-US" sz="900" dirty="0"/>
          </a:p>
        </p:txBody>
      </p:sp>
      <p:sp>
        <p:nvSpPr>
          <p:cNvPr id="15" name="Text 13"/>
          <p:cNvSpPr/>
          <p:nvPr/>
        </p:nvSpPr>
        <p:spPr>
          <a:xfrm>
            <a:off x="7863840" y="4937760"/>
            <a:ext cx="914400" cy="205740"/>
          </a:xfrm>
          <a:prstGeom prst="rect">
            <a:avLst/>
          </a:prstGeom>
          <a:noFill/>
          <a:ln/>
        </p:spPr>
        <p:txBody>
          <a:bodyPr wrap="square" rtlCol="0" anchor="ctr"/>
          <a:lstStyle/>
          <a:p>
            <a:pPr algn="r" indent="0" marL="0">
              <a:buNone/>
            </a:pPr>
            <a:r>
              <a:rPr lang="en-US" sz="900" dirty="0">
                <a:solidFill>
                  <a:srgbClr val="F9E795"/>
                </a:solidFill>
                <a:latin typeface="Calibri" pitchFamily="34" charset="0"/>
                <a:ea typeface="Calibri" pitchFamily="34" charset="-122"/>
                <a:cs typeface="Calibri"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457200" y="502920"/>
            <a:ext cx="164592" cy="164592"/>
          </a:xfrm>
          <a:prstGeom prst="rect">
            <a:avLst/>
          </a:prstGeom>
          <a:solidFill>
            <a:srgbClr val="F96167"/>
          </a:solidFill>
          <a:ln/>
        </p:spPr>
      </p:sp>
      <p:sp>
        <p:nvSpPr>
          <p:cNvPr id="3" name="Text 1"/>
          <p:cNvSpPr/>
          <p:nvPr/>
        </p:nvSpPr>
        <p:spPr>
          <a:xfrm>
            <a:off x="731520" y="365760"/>
            <a:ext cx="7955280" cy="502920"/>
          </a:xfrm>
          <a:prstGeom prst="rect">
            <a:avLst/>
          </a:prstGeom>
          <a:noFill/>
          <a:ln/>
        </p:spPr>
        <p:txBody>
          <a:bodyPr wrap="square" lIns="0" tIns="0" rIns="0" bIns="0"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The Funnel: 50 → 1</a:t>
            </a:r>
            <a:endParaRPr lang="en-US" sz="2800" dirty="0"/>
          </a:p>
        </p:txBody>
      </p:sp>
      <p:sp>
        <p:nvSpPr>
          <p:cNvPr id="4" name="Shape 2"/>
          <p:cNvSpPr/>
          <p:nvPr/>
        </p:nvSpPr>
        <p:spPr>
          <a:xfrm>
            <a:off x="457200" y="1371600"/>
            <a:ext cx="1554480" cy="2011680"/>
          </a:xfrm>
          <a:prstGeom prst="rect">
            <a:avLst/>
          </a:prstGeom>
          <a:solidFill>
            <a:srgbClr val="FFFFFF"/>
          </a:solidFill>
          <a:ln w="19050">
            <a:solidFill>
              <a:srgbClr val="2F3C7E"/>
            </a:solidFill>
            <a:prstDash val="solid"/>
          </a:ln>
        </p:spPr>
      </p:sp>
      <p:sp>
        <p:nvSpPr>
          <p:cNvPr id="5" name="Text 3"/>
          <p:cNvSpPr/>
          <p:nvPr/>
        </p:nvSpPr>
        <p:spPr>
          <a:xfrm>
            <a:off x="457200" y="1554480"/>
            <a:ext cx="1554480" cy="1005840"/>
          </a:xfrm>
          <a:prstGeom prst="rect">
            <a:avLst/>
          </a:prstGeom>
          <a:noFill/>
          <a:ln/>
        </p:spPr>
        <p:txBody>
          <a:bodyPr wrap="square" lIns="0" tIns="0" rIns="0" bIns="0" rtlCol="0" anchor="ctr"/>
          <a:lstStyle/>
          <a:p>
            <a:pPr algn="ctr" indent="0" marL="0">
              <a:buNone/>
            </a:pPr>
            <a:r>
              <a:rPr lang="en-US" sz="5600" b="1" dirty="0">
                <a:solidFill>
                  <a:srgbClr val="2F3C7E"/>
                </a:solidFill>
                <a:latin typeface="Georgia" pitchFamily="34" charset="0"/>
                <a:ea typeface="Georgia" pitchFamily="34" charset="-122"/>
                <a:cs typeface="Georgia" pitchFamily="34" charset="-120"/>
              </a:rPr>
              <a:t>50</a:t>
            </a:r>
            <a:endParaRPr lang="en-US" sz="5600" dirty="0"/>
          </a:p>
        </p:txBody>
      </p:sp>
      <p:sp>
        <p:nvSpPr>
          <p:cNvPr id="6" name="Text 4"/>
          <p:cNvSpPr/>
          <p:nvPr/>
        </p:nvSpPr>
        <p:spPr>
          <a:xfrm>
            <a:off x="457200" y="2606040"/>
            <a:ext cx="155448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Baseline runs</a:t>
            </a:r>
            <a:endParaRPr lang="en-US" sz="1300" dirty="0"/>
          </a:p>
        </p:txBody>
      </p:sp>
      <p:sp>
        <p:nvSpPr>
          <p:cNvPr id="7" name="Text 5"/>
          <p:cNvSpPr/>
          <p:nvPr/>
        </p:nvSpPr>
        <p:spPr>
          <a:xfrm>
            <a:off x="457200" y="2971800"/>
            <a:ext cx="1554480" cy="27432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Phase 2</a:t>
            </a:r>
            <a:endParaRPr lang="en-US" sz="1000" dirty="0"/>
          </a:p>
        </p:txBody>
      </p:sp>
      <p:sp>
        <p:nvSpPr>
          <p:cNvPr id="8" name="Text 6"/>
          <p:cNvSpPr/>
          <p:nvPr/>
        </p:nvSpPr>
        <p:spPr>
          <a:xfrm>
            <a:off x="2011680" y="1371600"/>
            <a:ext cx="137160" cy="2011680"/>
          </a:xfrm>
          <a:prstGeom prst="rect">
            <a:avLst/>
          </a:prstGeom>
          <a:noFill/>
          <a:ln/>
        </p:spPr>
        <p:txBody>
          <a:bodyPr wrap="square" rtlCol="0" anchor="ctr"/>
          <a:lstStyle/>
          <a:p>
            <a:pPr algn="ctr" indent="0" marL="0">
              <a:buNone/>
            </a:pPr>
            <a:r>
              <a:rPr lang="en-US" sz="2000" dirty="0">
                <a:solidFill>
                  <a:srgbClr val="F96167"/>
                </a:solidFill>
              </a:rPr>
              <a:t>▸</a:t>
            </a:r>
            <a:endParaRPr lang="en-US" sz="2000" dirty="0"/>
          </a:p>
        </p:txBody>
      </p:sp>
      <p:sp>
        <p:nvSpPr>
          <p:cNvPr id="9" name="Shape 7"/>
          <p:cNvSpPr/>
          <p:nvPr/>
        </p:nvSpPr>
        <p:spPr>
          <a:xfrm>
            <a:off x="2148840" y="1371600"/>
            <a:ext cx="1554480" cy="2011680"/>
          </a:xfrm>
          <a:prstGeom prst="rect">
            <a:avLst/>
          </a:prstGeom>
          <a:solidFill>
            <a:srgbClr val="FFFFFF"/>
          </a:solidFill>
          <a:ln w="19050">
            <a:solidFill>
              <a:srgbClr val="2F3C7E"/>
            </a:solidFill>
            <a:prstDash val="solid"/>
          </a:ln>
        </p:spPr>
      </p:sp>
      <p:sp>
        <p:nvSpPr>
          <p:cNvPr id="10" name="Text 8"/>
          <p:cNvSpPr/>
          <p:nvPr/>
        </p:nvSpPr>
        <p:spPr>
          <a:xfrm>
            <a:off x="2148840" y="1554480"/>
            <a:ext cx="1554480" cy="1005840"/>
          </a:xfrm>
          <a:prstGeom prst="rect">
            <a:avLst/>
          </a:prstGeom>
          <a:noFill/>
          <a:ln/>
        </p:spPr>
        <p:txBody>
          <a:bodyPr wrap="square" lIns="0" tIns="0" rIns="0" bIns="0" rtlCol="0" anchor="ctr"/>
          <a:lstStyle/>
          <a:p>
            <a:pPr algn="ctr" indent="0" marL="0">
              <a:buNone/>
            </a:pPr>
            <a:r>
              <a:rPr lang="en-US" sz="5600" b="1" dirty="0">
                <a:solidFill>
                  <a:srgbClr val="2F3C7E"/>
                </a:solidFill>
                <a:latin typeface="Georgia" pitchFamily="34" charset="0"/>
                <a:ea typeface="Georgia" pitchFamily="34" charset="-122"/>
                <a:cs typeface="Georgia" pitchFamily="34" charset="-120"/>
              </a:rPr>
              <a:t>5</a:t>
            </a:r>
            <a:endParaRPr lang="en-US" sz="5600" dirty="0"/>
          </a:p>
        </p:txBody>
      </p:sp>
      <p:sp>
        <p:nvSpPr>
          <p:cNvPr id="11" name="Text 9"/>
          <p:cNvSpPr/>
          <p:nvPr/>
        </p:nvSpPr>
        <p:spPr>
          <a:xfrm>
            <a:off x="2148840" y="2606040"/>
            <a:ext cx="155448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Refinement 1</a:t>
            </a:r>
            <a:endParaRPr lang="en-US" sz="1300" dirty="0"/>
          </a:p>
        </p:txBody>
      </p:sp>
      <p:sp>
        <p:nvSpPr>
          <p:cNvPr id="12" name="Text 10"/>
          <p:cNvSpPr/>
          <p:nvPr/>
        </p:nvSpPr>
        <p:spPr>
          <a:xfrm>
            <a:off x="2148840" y="2971800"/>
            <a:ext cx="1554480" cy="27432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Phase 3A</a:t>
            </a:r>
            <a:endParaRPr lang="en-US" sz="1000" dirty="0"/>
          </a:p>
        </p:txBody>
      </p:sp>
      <p:sp>
        <p:nvSpPr>
          <p:cNvPr id="13" name="Text 11"/>
          <p:cNvSpPr/>
          <p:nvPr/>
        </p:nvSpPr>
        <p:spPr>
          <a:xfrm>
            <a:off x="3703320" y="1371600"/>
            <a:ext cx="137160" cy="2011680"/>
          </a:xfrm>
          <a:prstGeom prst="rect">
            <a:avLst/>
          </a:prstGeom>
          <a:noFill/>
          <a:ln/>
        </p:spPr>
        <p:txBody>
          <a:bodyPr wrap="square" rtlCol="0" anchor="ctr"/>
          <a:lstStyle/>
          <a:p>
            <a:pPr algn="ctr" indent="0" marL="0">
              <a:buNone/>
            </a:pPr>
            <a:r>
              <a:rPr lang="en-US" sz="2000" dirty="0">
                <a:solidFill>
                  <a:srgbClr val="F96167"/>
                </a:solidFill>
              </a:rPr>
              <a:t>▸</a:t>
            </a:r>
            <a:endParaRPr lang="en-US" sz="2000" dirty="0"/>
          </a:p>
        </p:txBody>
      </p:sp>
      <p:sp>
        <p:nvSpPr>
          <p:cNvPr id="14" name="Shape 12"/>
          <p:cNvSpPr/>
          <p:nvPr/>
        </p:nvSpPr>
        <p:spPr>
          <a:xfrm>
            <a:off x="3840480" y="1371600"/>
            <a:ext cx="1554480" cy="2011680"/>
          </a:xfrm>
          <a:prstGeom prst="rect">
            <a:avLst/>
          </a:prstGeom>
          <a:solidFill>
            <a:srgbClr val="FFFFFF"/>
          </a:solidFill>
          <a:ln w="19050">
            <a:solidFill>
              <a:srgbClr val="2F3C7E"/>
            </a:solidFill>
            <a:prstDash val="solid"/>
          </a:ln>
        </p:spPr>
      </p:sp>
      <p:sp>
        <p:nvSpPr>
          <p:cNvPr id="15" name="Text 13"/>
          <p:cNvSpPr/>
          <p:nvPr/>
        </p:nvSpPr>
        <p:spPr>
          <a:xfrm>
            <a:off x="3840480" y="1554480"/>
            <a:ext cx="1554480" cy="1005840"/>
          </a:xfrm>
          <a:prstGeom prst="rect">
            <a:avLst/>
          </a:prstGeom>
          <a:noFill/>
          <a:ln/>
        </p:spPr>
        <p:txBody>
          <a:bodyPr wrap="square" lIns="0" tIns="0" rIns="0" bIns="0" rtlCol="0" anchor="ctr"/>
          <a:lstStyle/>
          <a:p>
            <a:pPr algn="ctr" indent="0" marL="0">
              <a:buNone/>
            </a:pPr>
            <a:r>
              <a:rPr lang="en-US" sz="5600" b="1" dirty="0">
                <a:solidFill>
                  <a:srgbClr val="2F3C7E"/>
                </a:solidFill>
                <a:latin typeface="Georgia" pitchFamily="34" charset="0"/>
                <a:ea typeface="Georgia" pitchFamily="34" charset="-122"/>
                <a:cs typeface="Georgia" pitchFamily="34" charset="-120"/>
              </a:rPr>
              <a:t>3</a:t>
            </a:r>
            <a:endParaRPr lang="en-US" sz="5600" dirty="0"/>
          </a:p>
        </p:txBody>
      </p:sp>
      <p:sp>
        <p:nvSpPr>
          <p:cNvPr id="16" name="Text 14"/>
          <p:cNvSpPr/>
          <p:nvPr/>
        </p:nvSpPr>
        <p:spPr>
          <a:xfrm>
            <a:off x="3840480" y="2606040"/>
            <a:ext cx="155448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Refinement 2</a:t>
            </a:r>
            <a:endParaRPr lang="en-US" sz="1300" dirty="0"/>
          </a:p>
        </p:txBody>
      </p:sp>
      <p:sp>
        <p:nvSpPr>
          <p:cNvPr id="17" name="Text 15"/>
          <p:cNvSpPr/>
          <p:nvPr/>
        </p:nvSpPr>
        <p:spPr>
          <a:xfrm>
            <a:off x="3840480" y="2971800"/>
            <a:ext cx="1554480" cy="27432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Phase 3B</a:t>
            </a:r>
            <a:endParaRPr lang="en-US" sz="1000" dirty="0"/>
          </a:p>
        </p:txBody>
      </p:sp>
      <p:sp>
        <p:nvSpPr>
          <p:cNvPr id="18" name="Text 16"/>
          <p:cNvSpPr/>
          <p:nvPr/>
        </p:nvSpPr>
        <p:spPr>
          <a:xfrm>
            <a:off x="5394960" y="1371600"/>
            <a:ext cx="137160" cy="2011680"/>
          </a:xfrm>
          <a:prstGeom prst="rect">
            <a:avLst/>
          </a:prstGeom>
          <a:noFill/>
          <a:ln/>
        </p:spPr>
        <p:txBody>
          <a:bodyPr wrap="square" rtlCol="0" anchor="ctr"/>
          <a:lstStyle/>
          <a:p>
            <a:pPr algn="ctr" indent="0" marL="0">
              <a:buNone/>
            </a:pPr>
            <a:r>
              <a:rPr lang="en-US" sz="2000" dirty="0">
                <a:solidFill>
                  <a:srgbClr val="F96167"/>
                </a:solidFill>
              </a:rPr>
              <a:t>▸</a:t>
            </a:r>
            <a:endParaRPr lang="en-US" sz="2000" dirty="0"/>
          </a:p>
        </p:txBody>
      </p:sp>
      <p:sp>
        <p:nvSpPr>
          <p:cNvPr id="19" name="Shape 17"/>
          <p:cNvSpPr/>
          <p:nvPr/>
        </p:nvSpPr>
        <p:spPr>
          <a:xfrm>
            <a:off x="5532120" y="1371600"/>
            <a:ext cx="1554480" cy="2011680"/>
          </a:xfrm>
          <a:prstGeom prst="rect">
            <a:avLst/>
          </a:prstGeom>
          <a:solidFill>
            <a:srgbClr val="FFFFFF"/>
          </a:solidFill>
          <a:ln w="19050">
            <a:solidFill>
              <a:srgbClr val="2F3C7E"/>
            </a:solidFill>
            <a:prstDash val="solid"/>
          </a:ln>
        </p:spPr>
      </p:sp>
      <p:sp>
        <p:nvSpPr>
          <p:cNvPr id="20" name="Text 18"/>
          <p:cNvSpPr/>
          <p:nvPr/>
        </p:nvSpPr>
        <p:spPr>
          <a:xfrm>
            <a:off x="5532120" y="1554480"/>
            <a:ext cx="1554480" cy="1005840"/>
          </a:xfrm>
          <a:prstGeom prst="rect">
            <a:avLst/>
          </a:prstGeom>
          <a:noFill/>
          <a:ln/>
        </p:spPr>
        <p:txBody>
          <a:bodyPr wrap="square" lIns="0" tIns="0" rIns="0" bIns="0" rtlCol="0" anchor="ctr"/>
          <a:lstStyle/>
          <a:p>
            <a:pPr algn="ctr" indent="0" marL="0">
              <a:buNone/>
            </a:pPr>
            <a:r>
              <a:rPr lang="en-US" sz="5600" b="1" dirty="0">
                <a:solidFill>
                  <a:srgbClr val="2F3C7E"/>
                </a:solidFill>
                <a:latin typeface="Georgia" pitchFamily="34" charset="0"/>
                <a:ea typeface="Georgia" pitchFamily="34" charset="-122"/>
                <a:cs typeface="Georgia" pitchFamily="34" charset="-120"/>
              </a:rPr>
              <a:t>2</a:t>
            </a:r>
            <a:endParaRPr lang="en-US" sz="5600" dirty="0"/>
          </a:p>
        </p:txBody>
      </p:sp>
      <p:sp>
        <p:nvSpPr>
          <p:cNvPr id="21" name="Text 19"/>
          <p:cNvSpPr/>
          <p:nvPr/>
        </p:nvSpPr>
        <p:spPr>
          <a:xfrm>
            <a:off x="5532120" y="2606040"/>
            <a:ext cx="155448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Refinement 3</a:t>
            </a:r>
            <a:endParaRPr lang="en-US" sz="1300" dirty="0"/>
          </a:p>
        </p:txBody>
      </p:sp>
      <p:sp>
        <p:nvSpPr>
          <p:cNvPr id="22" name="Text 20"/>
          <p:cNvSpPr/>
          <p:nvPr/>
        </p:nvSpPr>
        <p:spPr>
          <a:xfrm>
            <a:off x="5532120" y="2971800"/>
            <a:ext cx="1554480" cy="27432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Phase 4</a:t>
            </a:r>
            <a:endParaRPr lang="en-US" sz="1000" dirty="0"/>
          </a:p>
        </p:txBody>
      </p:sp>
      <p:sp>
        <p:nvSpPr>
          <p:cNvPr id="23" name="Text 21"/>
          <p:cNvSpPr/>
          <p:nvPr/>
        </p:nvSpPr>
        <p:spPr>
          <a:xfrm>
            <a:off x="7086600" y="1371600"/>
            <a:ext cx="137160" cy="2011680"/>
          </a:xfrm>
          <a:prstGeom prst="rect">
            <a:avLst/>
          </a:prstGeom>
          <a:noFill/>
          <a:ln/>
        </p:spPr>
        <p:txBody>
          <a:bodyPr wrap="square" rtlCol="0" anchor="ctr"/>
          <a:lstStyle/>
          <a:p>
            <a:pPr algn="ctr" indent="0" marL="0">
              <a:buNone/>
            </a:pPr>
            <a:r>
              <a:rPr lang="en-US" sz="2000" dirty="0">
                <a:solidFill>
                  <a:srgbClr val="F96167"/>
                </a:solidFill>
              </a:rPr>
              <a:t>▸</a:t>
            </a:r>
            <a:endParaRPr lang="en-US" sz="2000" dirty="0"/>
          </a:p>
        </p:txBody>
      </p:sp>
      <p:sp>
        <p:nvSpPr>
          <p:cNvPr id="24" name="Shape 22"/>
          <p:cNvSpPr/>
          <p:nvPr/>
        </p:nvSpPr>
        <p:spPr>
          <a:xfrm>
            <a:off x="7223760" y="1371600"/>
            <a:ext cx="1554480" cy="2011680"/>
          </a:xfrm>
          <a:prstGeom prst="rect">
            <a:avLst/>
          </a:prstGeom>
          <a:solidFill>
            <a:srgbClr val="F96167"/>
          </a:solidFill>
          <a:ln w="19050">
            <a:solidFill>
              <a:srgbClr val="F96167"/>
            </a:solidFill>
            <a:prstDash val="solid"/>
          </a:ln>
        </p:spPr>
      </p:sp>
      <p:sp>
        <p:nvSpPr>
          <p:cNvPr id="25" name="Text 23"/>
          <p:cNvSpPr/>
          <p:nvPr/>
        </p:nvSpPr>
        <p:spPr>
          <a:xfrm>
            <a:off x="7223760" y="1554480"/>
            <a:ext cx="1554480" cy="1005840"/>
          </a:xfrm>
          <a:prstGeom prst="rect">
            <a:avLst/>
          </a:prstGeom>
          <a:noFill/>
          <a:ln/>
        </p:spPr>
        <p:txBody>
          <a:bodyPr wrap="square" lIns="0" tIns="0" rIns="0" bIns="0" rtlCol="0" anchor="ctr"/>
          <a:lstStyle/>
          <a:p>
            <a:pPr algn="ctr" indent="0" marL="0">
              <a:buNone/>
            </a:pPr>
            <a:r>
              <a:rPr lang="en-US" sz="5600" b="1" dirty="0">
                <a:solidFill>
                  <a:srgbClr val="FFF8E7"/>
                </a:solidFill>
                <a:latin typeface="Georgia" pitchFamily="34" charset="0"/>
                <a:ea typeface="Georgia" pitchFamily="34" charset="-122"/>
                <a:cs typeface="Georgia" pitchFamily="34" charset="-120"/>
              </a:rPr>
              <a:t>1</a:t>
            </a:r>
            <a:endParaRPr lang="en-US" sz="5600" dirty="0"/>
          </a:p>
        </p:txBody>
      </p:sp>
      <p:sp>
        <p:nvSpPr>
          <p:cNvPr id="26" name="Text 24"/>
          <p:cNvSpPr/>
          <p:nvPr/>
        </p:nvSpPr>
        <p:spPr>
          <a:xfrm>
            <a:off x="7223760" y="2606040"/>
            <a:ext cx="1554480" cy="365760"/>
          </a:xfrm>
          <a:prstGeom prst="rect">
            <a:avLst/>
          </a:prstGeom>
          <a:noFill/>
          <a:ln/>
        </p:spPr>
        <p:txBody>
          <a:bodyPr wrap="square" rtlCol="0" anchor="ctr"/>
          <a:lstStyle/>
          <a:p>
            <a:pPr algn="ctr" indent="0" marL="0">
              <a:buNone/>
            </a:pPr>
            <a:r>
              <a:rPr lang="en-US" sz="1300" b="1" dirty="0">
                <a:solidFill>
                  <a:srgbClr val="FFF8E7"/>
                </a:solidFill>
                <a:latin typeface="Calibri" pitchFamily="34" charset="0"/>
                <a:ea typeface="Calibri" pitchFamily="34" charset="-122"/>
                <a:cs typeface="Calibri" pitchFamily="34" charset="-120"/>
              </a:rPr>
              <a:t>Final</a:t>
            </a:r>
            <a:endParaRPr lang="en-US" sz="1300" dirty="0"/>
          </a:p>
        </p:txBody>
      </p:sp>
      <p:sp>
        <p:nvSpPr>
          <p:cNvPr id="27" name="Text 25"/>
          <p:cNvSpPr/>
          <p:nvPr/>
        </p:nvSpPr>
        <p:spPr>
          <a:xfrm>
            <a:off x="7223760" y="2971800"/>
            <a:ext cx="1554480" cy="274320"/>
          </a:xfrm>
          <a:prstGeom prst="rect">
            <a:avLst/>
          </a:prstGeom>
          <a:noFill/>
          <a:ln/>
        </p:spPr>
        <p:txBody>
          <a:bodyPr wrap="square" rtlCol="0" anchor="ctr"/>
          <a:lstStyle/>
          <a:p>
            <a:pPr algn="ctr" indent="0" marL="0">
              <a:buNone/>
            </a:pPr>
            <a:r>
              <a:rPr lang="en-US" sz="1000" i="1" dirty="0">
                <a:solidFill>
                  <a:srgbClr val="F9E795"/>
                </a:solidFill>
                <a:latin typeface="Calibri" pitchFamily="34" charset="0"/>
                <a:ea typeface="Calibri" pitchFamily="34" charset="-122"/>
                <a:cs typeface="Calibri" pitchFamily="34" charset="-120"/>
              </a:rPr>
              <a:t>Phase 5</a:t>
            </a:r>
            <a:endParaRPr lang="en-US" sz="1000" dirty="0"/>
          </a:p>
        </p:txBody>
      </p:sp>
      <p:sp>
        <p:nvSpPr>
          <p:cNvPr id="28" name="Text 26"/>
          <p:cNvSpPr/>
          <p:nvPr/>
        </p:nvSpPr>
        <p:spPr>
          <a:xfrm>
            <a:off x="457200" y="3657600"/>
            <a:ext cx="8229600" cy="274320"/>
          </a:xfrm>
          <a:prstGeom prst="rect">
            <a:avLst/>
          </a:prstGeom>
          <a:noFill/>
          <a:ln/>
        </p:spPr>
        <p:txBody>
          <a:bodyPr wrap="square"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KEY OBSERVATIONS FROM THE FUNNEL</a:t>
            </a:r>
            <a:endParaRPr lang="en-US" sz="1100" dirty="0"/>
          </a:p>
        </p:txBody>
      </p:sp>
      <p:sp>
        <p:nvSpPr>
          <p:cNvPr id="29" name="Text 27"/>
          <p:cNvSpPr/>
          <p:nvPr/>
        </p:nvSpPr>
        <p:spPr>
          <a:xfrm>
            <a:off x="457200" y="3931920"/>
            <a:ext cx="8229600" cy="914400"/>
          </a:xfrm>
          <a:prstGeom prst="rect">
            <a:avLst/>
          </a:prstGeom>
          <a:noFill/>
          <a:ln/>
        </p:spPr>
        <p:txBody>
          <a:bodyPr wrap="square" rtlCol="0" anchor="ctr"/>
          <a:lstStyle/>
          <a:p>
            <a:pPr marL="342900" indent="-342900">
              <a:spcAft>
                <a:spcPts val="200"/>
              </a:spcAft>
              <a:buSzPct val="100000"/>
              <a:buChar char="•"/>
            </a:pPr>
            <a:r>
              <a:rPr lang="en-US" sz="1200" dirty="0">
                <a:solidFill>
                  <a:srgbClr val="1A1A2E"/>
                </a:solidFill>
                <a:latin typeface="Calibri" pitchFamily="34" charset="0"/>
                <a:ea typeface="Calibri" pitchFamily="34" charset="-122"/>
                <a:cs typeface="Calibri" pitchFamily="34" charset="-120"/>
              </a:rPr>
              <a:t>[Observation 1 — e.g. how consistent the 50 baseline runs were]</a:t>
            </a:r>
            <a:endParaRPr lang="en-US" sz="1200" dirty="0"/>
          </a:p>
          <a:p>
            <a:pPr marL="342900" indent="-342900">
              <a:spcAft>
                <a:spcPts val="200"/>
              </a:spcAft>
              <a:buSzPct val="100000"/>
              <a:buChar char="•"/>
            </a:pPr>
            <a:r>
              <a:rPr lang="en-US" sz="1200" dirty="0">
                <a:solidFill>
                  <a:srgbClr val="1A1A2E"/>
                </a:solidFill>
                <a:latin typeface="Calibri" pitchFamily="34" charset="0"/>
                <a:ea typeface="Calibri" pitchFamily="34" charset="-122"/>
                <a:cs typeface="Calibri" pitchFamily="34" charset="-120"/>
              </a:rPr>
              <a:t>[Observation 2 — what the first refinement actually changed]</a:t>
            </a:r>
            <a:endParaRPr lang="en-US" sz="1200" dirty="0"/>
          </a:p>
          <a:p>
            <a:pPr marL="342900" indent="-342900">
              <a:spcAft>
                <a:spcPts val="200"/>
              </a:spcAft>
              <a:buSzPct val="100000"/>
              <a:buChar char="•"/>
            </a:pPr>
            <a:r>
              <a:rPr lang="en-US" sz="1200" dirty="0">
                <a:solidFill>
                  <a:srgbClr val="1A1A2E"/>
                </a:solidFill>
                <a:latin typeface="Calibri" pitchFamily="34" charset="0"/>
                <a:ea typeface="Calibri" pitchFamily="34" charset="-122"/>
                <a:cs typeface="Calibri" pitchFamily="34" charset="-120"/>
              </a:rPr>
              <a:t>[Observation 3 — where the ceiling showed up]</a:t>
            </a:r>
            <a:endParaRPr lang="en-US" sz="1200" dirty="0"/>
          </a:p>
        </p:txBody>
      </p:sp>
      <p:sp>
        <p:nvSpPr>
          <p:cNvPr id="30" name="Shape 28"/>
          <p:cNvSpPr/>
          <p:nvPr/>
        </p:nvSpPr>
        <p:spPr>
          <a:xfrm>
            <a:off x="0" y="4937760"/>
            <a:ext cx="9144000" cy="205740"/>
          </a:xfrm>
          <a:prstGeom prst="rect">
            <a:avLst/>
          </a:prstGeom>
          <a:solidFill>
            <a:srgbClr val="2F3C7E"/>
          </a:solidFill>
          <a:ln/>
        </p:spPr>
      </p:sp>
      <p:sp>
        <p:nvSpPr>
          <p:cNvPr id="31" name="Text 29"/>
          <p:cNvSpPr/>
          <p:nvPr/>
        </p:nvSpPr>
        <p:spPr>
          <a:xfrm>
            <a:off x="365760" y="4937760"/>
            <a:ext cx="5486400" cy="205740"/>
          </a:xfrm>
          <a:prstGeom prst="rect">
            <a:avLst/>
          </a:prstGeom>
          <a:noFill/>
          <a:ln/>
        </p:spPr>
        <p:txBody>
          <a:bodyPr wrap="square" rtlCol="0" anchor="ctr"/>
          <a:lstStyle/>
          <a:p>
            <a:pPr indent="0" marL="0">
              <a:buNone/>
            </a:pPr>
            <a:r>
              <a:rPr lang="en-US" sz="900" spc="200" kern="0" dirty="0">
                <a:solidFill>
                  <a:srgbClr val="F9E795"/>
                </a:solidFill>
                <a:latin typeface="Calibri" pitchFamily="34" charset="0"/>
                <a:ea typeface="Calibri" pitchFamily="34" charset="-122"/>
                <a:cs typeface="Calibri" pitchFamily="34" charset="-120"/>
              </a:rPr>
              <a:t>ONE ARM AI SLOT MACHINE  //  CSE 110</a:t>
            </a:r>
            <a:endParaRPr lang="en-US" sz="900" dirty="0"/>
          </a:p>
        </p:txBody>
      </p:sp>
      <p:sp>
        <p:nvSpPr>
          <p:cNvPr id="32" name="Text 30"/>
          <p:cNvSpPr/>
          <p:nvPr/>
        </p:nvSpPr>
        <p:spPr>
          <a:xfrm>
            <a:off x="7863840" y="4937760"/>
            <a:ext cx="914400" cy="205740"/>
          </a:xfrm>
          <a:prstGeom prst="rect">
            <a:avLst/>
          </a:prstGeom>
          <a:noFill/>
          <a:ln/>
        </p:spPr>
        <p:txBody>
          <a:bodyPr wrap="square" rtlCol="0" anchor="ctr"/>
          <a:lstStyle/>
          <a:p>
            <a:pPr algn="r" indent="0" marL="0">
              <a:buNone/>
            </a:pPr>
            <a:r>
              <a:rPr lang="en-US" sz="900" dirty="0">
                <a:solidFill>
                  <a:srgbClr val="F9E795"/>
                </a:solidFill>
                <a:latin typeface="Calibri" pitchFamily="34" charset="0"/>
                <a:ea typeface="Calibri" pitchFamily="34" charset="-122"/>
                <a:cs typeface="Calibri"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457200" y="502920"/>
            <a:ext cx="164592" cy="164592"/>
          </a:xfrm>
          <a:prstGeom prst="rect">
            <a:avLst/>
          </a:prstGeom>
          <a:solidFill>
            <a:srgbClr val="F96167"/>
          </a:solidFill>
          <a:ln/>
        </p:spPr>
      </p:sp>
      <p:sp>
        <p:nvSpPr>
          <p:cNvPr id="3" name="Text 1"/>
          <p:cNvSpPr/>
          <p:nvPr/>
        </p:nvSpPr>
        <p:spPr>
          <a:xfrm>
            <a:off x="731520" y="365760"/>
            <a:ext cx="7955280" cy="502920"/>
          </a:xfrm>
          <a:prstGeom prst="rect">
            <a:avLst/>
          </a:prstGeom>
          <a:noFill/>
          <a:ln/>
        </p:spPr>
        <p:txBody>
          <a:bodyPr wrap="square" lIns="0" tIns="0" rIns="0" bIns="0"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The Data</a:t>
            </a:r>
            <a:endParaRPr lang="en-US" sz="2800" dirty="0"/>
          </a:p>
        </p:txBody>
      </p:sp>
      <p:sp>
        <p:nvSpPr>
          <p:cNvPr id="4" name="Shape 2"/>
          <p:cNvSpPr/>
          <p:nvPr/>
        </p:nvSpPr>
        <p:spPr>
          <a:xfrm>
            <a:off x="457200" y="1097280"/>
            <a:ext cx="2651760" cy="1371600"/>
          </a:xfrm>
          <a:prstGeom prst="rect">
            <a:avLst/>
          </a:prstGeom>
          <a:solidFill>
            <a:srgbClr val="F96167"/>
          </a:solidFill>
          <a:ln/>
        </p:spPr>
      </p:sp>
      <p:sp>
        <p:nvSpPr>
          <p:cNvPr id="5" name="Text 3"/>
          <p:cNvSpPr/>
          <p:nvPr/>
        </p:nvSpPr>
        <p:spPr>
          <a:xfrm>
            <a:off x="457200" y="1143000"/>
            <a:ext cx="2651760" cy="822960"/>
          </a:xfrm>
          <a:prstGeom prst="rect">
            <a:avLst/>
          </a:prstGeom>
          <a:noFill/>
          <a:ln/>
        </p:spPr>
        <p:txBody>
          <a:bodyPr wrap="square" lIns="0" tIns="0" rIns="0" bIns="0" rtlCol="0" anchor="ctr"/>
          <a:lstStyle/>
          <a:p>
            <a:pPr algn="ctr" indent="0" marL="0">
              <a:buNone/>
            </a:pPr>
            <a:r>
              <a:rPr lang="en-US" sz="4800" b="1" dirty="0">
                <a:solidFill>
                  <a:srgbClr val="FFF8E7"/>
                </a:solidFill>
                <a:latin typeface="Georgia" pitchFamily="34" charset="0"/>
                <a:ea typeface="Georgia" pitchFamily="34" charset="-122"/>
                <a:cs typeface="Georgia" pitchFamily="34" charset="-120"/>
              </a:rPr>
              <a:t>[X%]</a:t>
            </a:r>
            <a:endParaRPr lang="en-US" sz="4800" dirty="0"/>
          </a:p>
        </p:txBody>
      </p:sp>
      <p:sp>
        <p:nvSpPr>
          <p:cNvPr id="6" name="Text 4"/>
          <p:cNvSpPr/>
          <p:nvPr/>
        </p:nvSpPr>
        <p:spPr>
          <a:xfrm>
            <a:off x="457200" y="1965960"/>
            <a:ext cx="2651760" cy="457200"/>
          </a:xfrm>
          <a:prstGeom prst="rect">
            <a:avLst/>
          </a:prstGeom>
          <a:noFill/>
          <a:ln/>
        </p:spPr>
        <p:txBody>
          <a:bodyPr wrap="square" rtlCol="0" anchor="t"/>
          <a:lstStyle/>
          <a:p>
            <a:pPr algn="ctr" indent="0" marL="0">
              <a:buNone/>
            </a:pPr>
            <a:r>
              <a:rPr lang="en-US" sz="1100" dirty="0">
                <a:solidFill>
                  <a:srgbClr val="FFF8E7"/>
                </a:solidFill>
                <a:latin typeface="Calibri" pitchFamily="34" charset="0"/>
                <a:ea typeface="Calibri" pitchFamily="34" charset="-122"/>
                <a:cs typeface="Calibri" pitchFamily="34" charset="-120"/>
              </a:rPr>
              <a:t>Ran in browser</a:t>
            </a:r>
            <a:endParaRPr lang="en-US" sz="1100" dirty="0"/>
          </a:p>
          <a:p>
            <a:pPr algn="ctr" indent="0" marL="0">
              <a:buNone/>
            </a:pPr>
            <a:r>
              <a:rPr lang="en-US" sz="1100" dirty="0">
                <a:solidFill>
                  <a:srgbClr val="FFF8E7"/>
                </a:solidFill>
                <a:latin typeface="Calibri" pitchFamily="34" charset="0"/>
                <a:ea typeface="Calibri" pitchFamily="34" charset="-122"/>
                <a:cs typeface="Calibri" pitchFamily="34" charset="-120"/>
              </a:rPr>
              <a:t>on first load</a:t>
            </a:r>
            <a:endParaRPr lang="en-US" sz="1100" dirty="0"/>
          </a:p>
        </p:txBody>
      </p:sp>
      <p:sp>
        <p:nvSpPr>
          <p:cNvPr id="7" name="Shape 5"/>
          <p:cNvSpPr/>
          <p:nvPr/>
        </p:nvSpPr>
        <p:spPr>
          <a:xfrm>
            <a:off x="3291840" y="1097280"/>
            <a:ext cx="2651760" cy="1371600"/>
          </a:xfrm>
          <a:prstGeom prst="rect">
            <a:avLst/>
          </a:prstGeom>
          <a:solidFill>
            <a:srgbClr val="2F3C7E"/>
          </a:solidFill>
          <a:ln/>
        </p:spPr>
      </p:sp>
      <p:sp>
        <p:nvSpPr>
          <p:cNvPr id="8" name="Text 6"/>
          <p:cNvSpPr/>
          <p:nvPr/>
        </p:nvSpPr>
        <p:spPr>
          <a:xfrm>
            <a:off x="3291840" y="1143000"/>
            <a:ext cx="2651760" cy="822960"/>
          </a:xfrm>
          <a:prstGeom prst="rect">
            <a:avLst/>
          </a:prstGeom>
          <a:noFill/>
          <a:ln/>
        </p:spPr>
        <p:txBody>
          <a:bodyPr wrap="square" lIns="0" tIns="0" rIns="0" bIns="0" rtlCol="0" anchor="ctr"/>
          <a:lstStyle/>
          <a:p>
            <a:pPr algn="ctr" indent="0" marL="0">
              <a:buNone/>
            </a:pPr>
            <a:r>
              <a:rPr lang="en-US" sz="4800" b="1" dirty="0">
                <a:solidFill>
                  <a:srgbClr val="FFF8E7"/>
                </a:solidFill>
                <a:latin typeface="Georgia" pitchFamily="34" charset="0"/>
                <a:ea typeface="Georgia" pitchFamily="34" charset="-122"/>
                <a:cs typeface="Georgia" pitchFamily="34" charset="-120"/>
              </a:rPr>
              <a:t>[X]</a:t>
            </a:r>
            <a:endParaRPr lang="en-US" sz="4800" dirty="0"/>
          </a:p>
        </p:txBody>
      </p:sp>
      <p:sp>
        <p:nvSpPr>
          <p:cNvPr id="9" name="Text 7"/>
          <p:cNvSpPr/>
          <p:nvPr/>
        </p:nvSpPr>
        <p:spPr>
          <a:xfrm>
            <a:off x="3291840" y="1965960"/>
            <a:ext cx="2651760" cy="457200"/>
          </a:xfrm>
          <a:prstGeom prst="rect">
            <a:avLst/>
          </a:prstGeom>
          <a:noFill/>
          <a:ln/>
        </p:spPr>
        <p:txBody>
          <a:bodyPr wrap="square" rtlCol="0" anchor="t"/>
          <a:lstStyle/>
          <a:p>
            <a:pPr algn="ctr" indent="0" marL="0">
              <a:buNone/>
            </a:pPr>
            <a:r>
              <a:rPr lang="en-US" sz="1100" dirty="0">
                <a:solidFill>
                  <a:srgbClr val="FFF8E7"/>
                </a:solidFill>
                <a:latin typeface="Calibri" pitchFamily="34" charset="0"/>
                <a:ea typeface="Calibri" pitchFamily="34" charset="-122"/>
                <a:cs typeface="Calibri" pitchFamily="34" charset="-120"/>
              </a:rPr>
              <a:t>Median output</a:t>
            </a:r>
            <a:endParaRPr lang="en-US" sz="1100" dirty="0"/>
          </a:p>
          <a:p>
            <a:pPr algn="ctr" indent="0" marL="0">
              <a:buNone/>
            </a:pPr>
            <a:r>
              <a:rPr lang="en-US" sz="1100" dirty="0">
                <a:solidFill>
                  <a:srgbClr val="FFF8E7"/>
                </a:solidFill>
                <a:latin typeface="Calibri" pitchFamily="34" charset="0"/>
                <a:ea typeface="Calibri" pitchFamily="34" charset="-122"/>
                <a:cs typeface="Calibri" pitchFamily="34" charset="-120"/>
              </a:rPr>
              <a:t>tokens per run</a:t>
            </a:r>
            <a:endParaRPr lang="en-US" sz="1100" dirty="0"/>
          </a:p>
        </p:txBody>
      </p:sp>
      <p:sp>
        <p:nvSpPr>
          <p:cNvPr id="10" name="Shape 8"/>
          <p:cNvSpPr/>
          <p:nvPr/>
        </p:nvSpPr>
        <p:spPr>
          <a:xfrm>
            <a:off x="6126480" y="1097280"/>
            <a:ext cx="2651760" cy="1371600"/>
          </a:xfrm>
          <a:prstGeom prst="rect">
            <a:avLst/>
          </a:prstGeom>
          <a:solidFill>
            <a:srgbClr val="F9E795"/>
          </a:solidFill>
          <a:ln/>
        </p:spPr>
      </p:sp>
      <p:sp>
        <p:nvSpPr>
          <p:cNvPr id="11" name="Text 9"/>
          <p:cNvSpPr/>
          <p:nvPr/>
        </p:nvSpPr>
        <p:spPr>
          <a:xfrm>
            <a:off x="6126480" y="1143000"/>
            <a:ext cx="2651760" cy="822960"/>
          </a:xfrm>
          <a:prstGeom prst="rect">
            <a:avLst/>
          </a:prstGeom>
          <a:noFill/>
          <a:ln/>
        </p:spPr>
        <p:txBody>
          <a:bodyPr wrap="square" lIns="0" tIns="0" rIns="0" bIns="0" rtlCol="0" anchor="ctr"/>
          <a:lstStyle/>
          <a:p>
            <a:pPr algn="ctr" indent="0" marL="0">
              <a:buNone/>
            </a:pPr>
            <a:r>
              <a:rPr lang="en-US" sz="4800" b="1" dirty="0">
                <a:solidFill>
                  <a:srgbClr val="1A1A2E"/>
                </a:solidFill>
                <a:latin typeface="Georgia" pitchFamily="34" charset="0"/>
                <a:ea typeface="Georgia" pitchFamily="34" charset="-122"/>
                <a:cs typeface="Georgia" pitchFamily="34" charset="-120"/>
              </a:rPr>
              <a:t>[X]</a:t>
            </a:r>
            <a:endParaRPr lang="en-US" sz="4800" dirty="0"/>
          </a:p>
        </p:txBody>
      </p:sp>
      <p:sp>
        <p:nvSpPr>
          <p:cNvPr id="12" name="Text 10"/>
          <p:cNvSpPr/>
          <p:nvPr/>
        </p:nvSpPr>
        <p:spPr>
          <a:xfrm>
            <a:off x="6126480" y="1965960"/>
            <a:ext cx="2651760" cy="45720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LOC spread</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(min → max)</a:t>
            </a:r>
            <a:endParaRPr lang="en-US" sz="1100" dirty="0"/>
          </a:p>
        </p:txBody>
      </p:sp>
      <p:graphicFrame>
        <p:nvGraphicFramePr>
          <p:cNvPr id="13" name="Chart 0" descr=""/>
          <p:cNvGraphicFramePr/>
          <p:nvPr/>
        </p:nvGraphicFramePr>
        <p:xfrm>
          <a:off x="457200" y="2651760"/>
          <a:ext cx="5029200" cy="21031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5669280" y="2651760"/>
            <a:ext cx="3017520" cy="274320"/>
          </a:xfrm>
          <a:prstGeom prst="rect">
            <a:avLst/>
          </a:prstGeom>
          <a:noFill/>
          <a:ln/>
        </p:spPr>
        <p:txBody>
          <a:bodyPr wrap="square"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AT A GLANCE</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2926080"/>
          <a:ext cx="3017520" cy="914400"/>
        </p:xfrm>
        <a:graphic>
          <a:graphicData uri="http://schemas.openxmlformats.org/drawingml/2006/table">
            <a:tbl>
              <a:tblPr/>
              <a:tblGrid>
                <a:gridCol w="1828800"/>
                <a:gridCol w="1188720"/>
              </a:tblGrid>
              <a:tr h="292608">
                <a:tc>
                  <a:txBody>
                    <a:bodyPr/>
                    <a:lstStyle/>
                    <a:p>
                      <a:pPr indent="0" marL="0">
                        <a:buNone/>
                      </a:pPr>
                      <a:r>
                        <a:rPr lang="en-US" sz="1000" b="1" dirty="0">
                          <a:solidFill>
                            <a:srgbClr val="FFF8E7"/>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F3C7E"/>
                    </a:solidFill>
                  </a:tcPr>
                </a:tc>
                <a:tc>
                  <a:txBody>
                    <a:bodyPr/>
                    <a:lstStyle/>
                    <a:p>
                      <a:pPr indent="0" marL="0">
                        <a:buNone/>
                      </a:pPr>
                      <a:r>
                        <a:rPr lang="en-US" sz="1000" b="1" dirty="0">
                          <a:solidFill>
                            <a:srgbClr val="FFF8E7"/>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F3C7E"/>
                    </a:solidFill>
                  </a:tcPr>
                </a:tc>
              </a:tr>
              <a:tr h="292608">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Mean wall-clock (s)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[X]</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Mean total tokens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[X]</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Runs w/ broken code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[X/50]</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Avg files produced</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[X]</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Avg LOC</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[X]</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6" name="Shape 12"/>
          <p:cNvSpPr/>
          <p:nvPr/>
        </p:nvSpPr>
        <p:spPr>
          <a:xfrm>
            <a:off x="0" y="4937760"/>
            <a:ext cx="9144000" cy="205740"/>
          </a:xfrm>
          <a:prstGeom prst="rect">
            <a:avLst/>
          </a:prstGeom>
          <a:solidFill>
            <a:srgbClr val="2F3C7E"/>
          </a:solidFill>
          <a:ln/>
        </p:spPr>
      </p:sp>
      <p:sp>
        <p:nvSpPr>
          <p:cNvPr id="17" name="Text 13"/>
          <p:cNvSpPr/>
          <p:nvPr/>
        </p:nvSpPr>
        <p:spPr>
          <a:xfrm>
            <a:off x="365760" y="4937760"/>
            <a:ext cx="5486400" cy="205740"/>
          </a:xfrm>
          <a:prstGeom prst="rect">
            <a:avLst/>
          </a:prstGeom>
          <a:noFill/>
          <a:ln/>
        </p:spPr>
        <p:txBody>
          <a:bodyPr wrap="square" rtlCol="0" anchor="ctr"/>
          <a:lstStyle/>
          <a:p>
            <a:pPr indent="0" marL="0">
              <a:buNone/>
            </a:pPr>
            <a:r>
              <a:rPr lang="en-US" sz="900" spc="200" kern="0" dirty="0">
                <a:solidFill>
                  <a:srgbClr val="F9E795"/>
                </a:solidFill>
                <a:latin typeface="Calibri" pitchFamily="34" charset="0"/>
                <a:ea typeface="Calibri" pitchFamily="34" charset="-122"/>
                <a:cs typeface="Calibri" pitchFamily="34" charset="-120"/>
              </a:rPr>
              <a:t>ONE ARM AI SLOT MACHINE  //  CSE 110</a:t>
            </a:r>
            <a:endParaRPr lang="en-US" sz="900" dirty="0"/>
          </a:p>
        </p:txBody>
      </p:sp>
      <p:sp>
        <p:nvSpPr>
          <p:cNvPr id="18" name="Text 14"/>
          <p:cNvSpPr/>
          <p:nvPr/>
        </p:nvSpPr>
        <p:spPr>
          <a:xfrm>
            <a:off x="7863840" y="4937760"/>
            <a:ext cx="914400" cy="205740"/>
          </a:xfrm>
          <a:prstGeom prst="rect">
            <a:avLst/>
          </a:prstGeom>
          <a:noFill/>
          <a:ln/>
        </p:spPr>
        <p:txBody>
          <a:bodyPr wrap="square" rtlCol="0" anchor="ctr"/>
          <a:lstStyle/>
          <a:p>
            <a:pPr algn="r" indent="0" marL="0">
              <a:buNone/>
            </a:pPr>
            <a:r>
              <a:rPr lang="en-US" sz="900" dirty="0">
                <a:solidFill>
                  <a:srgbClr val="F9E795"/>
                </a:solidFill>
                <a:latin typeface="Calibri" pitchFamily="34" charset="0"/>
                <a:ea typeface="Calibri" pitchFamily="34" charset="-122"/>
                <a:cs typeface="Calibri"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457200" y="502920"/>
            <a:ext cx="164592" cy="164592"/>
          </a:xfrm>
          <a:prstGeom prst="rect">
            <a:avLst/>
          </a:prstGeom>
          <a:solidFill>
            <a:srgbClr val="F96167"/>
          </a:solidFill>
          <a:ln/>
        </p:spPr>
      </p:sp>
      <p:sp>
        <p:nvSpPr>
          <p:cNvPr id="3" name="Text 1"/>
          <p:cNvSpPr/>
          <p:nvPr/>
        </p:nvSpPr>
        <p:spPr>
          <a:xfrm>
            <a:off x="731520" y="365760"/>
            <a:ext cx="7955280" cy="502920"/>
          </a:xfrm>
          <a:prstGeom prst="rect">
            <a:avLst/>
          </a:prstGeom>
          <a:noFill/>
          <a:ln/>
        </p:spPr>
        <p:txBody>
          <a:bodyPr wrap="square" lIns="0" tIns="0" rIns="0" bIns="0"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Drift &amp; Quality Spread</a:t>
            </a:r>
            <a:endParaRPr lang="en-US" sz="2800" dirty="0"/>
          </a:p>
        </p:txBody>
      </p:sp>
      <p:sp>
        <p:nvSpPr>
          <p:cNvPr id="4" name="Shape 2"/>
          <p:cNvSpPr/>
          <p:nvPr/>
        </p:nvSpPr>
        <p:spPr>
          <a:xfrm>
            <a:off x="457200" y="1097280"/>
            <a:ext cx="4023360" cy="3566160"/>
          </a:xfrm>
          <a:prstGeom prst="rect">
            <a:avLst/>
          </a:prstGeom>
          <a:solidFill>
            <a:srgbClr val="FFFFFF"/>
          </a:solidFill>
          <a:ln w="12700">
            <a:solidFill>
              <a:srgbClr val="2F3C7E"/>
            </a:solidFill>
            <a:prstDash val="solid"/>
          </a:ln>
        </p:spPr>
      </p:sp>
      <p:sp>
        <p:nvSpPr>
          <p:cNvPr id="5" name="Shape 3"/>
          <p:cNvSpPr/>
          <p:nvPr/>
        </p:nvSpPr>
        <p:spPr>
          <a:xfrm>
            <a:off x="457200" y="1097280"/>
            <a:ext cx="4023360" cy="457200"/>
          </a:xfrm>
          <a:prstGeom prst="rect">
            <a:avLst/>
          </a:prstGeom>
          <a:solidFill>
            <a:srgbClr val="2F3C7E"/>
          </a:solidFill>
          <a:ln/>
        </p:spPr>
      </p:sp>
      <p:sp>
        <p:nvSpPr>
          <p:cNvPr id="6" name="Text 4"/>
          <p:cNvSpPr/>
          <p:nvPr/>
        </p:nvSpPr>
        <p:spPr>
          <a:xfrm>
            <a:off x="640080" y="1097280"/>
            <a:ext cx="3657600" cy="457200"/>
          </a:xfrm>
          <a:prstGeom prst="rect">
            <a:avLst/>
          </a:prstGeom>
          <a:noFill/>
          <a:ln/>
        </p:spPr>
        <p:txBody>
          <a:bodyPr wrap="square" rtlCol="0" anchor="ctr"/>
          <a:lstStyle/>
          <a:p>
            <a:pPr indent="0" marL="0">
              <a:buNone/>
            </a:pPr>
            <a:r>
              <a:rPr lang="en-US" sz="1300" b="1" spc="300" kern="0" dirty="0">
                <a:solidFill>
                  <a:srgbClr val="F9E795"/>
                </a:solidFill>
                <a:latin typeface="Calibri" pitchFamily="34" charset="0"/>
                <a:ea typeface="Calibri" pitchFamily="34" charset="-122"/>
                <a:cs typeface="Calibri" pitchFamily="34" charset="-120"/>
              </a:rPr>
              <a:t>COMMON PATTERNS</a:t>
            </a:r>
            <a:endParaRPr lang="en-US" sz="1300" dirty="0"/>
          </a:p>
        </p:txBody>
      </p:sp>
      <p:sp>
        <p:nvSpPr>
          <p:cNvPr id="7" name="Text 5"/>
          <p:cNvSpPr/>
          <p:nvPr/>
        </p:nvSpPr>
        <p:spPr>
          <a:xfrm>
            <a:off x="685800" y="1691640"/>
            <a:ext cx="3657600" cy="2834640"/>
          </a:xfrm>
          <a:prstGeom prst="rect">
            <a:avLst/>
          </a:prstGeom>
          <a:noFill/>
          <a:ln/>
        </p:spPr>
        <p:txBody>
          <a:bodyPr wrap="square"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[Pattern 1 — e.g. emoji reels]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[Pattern 2 — e.g. token economy framing]</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[Pattern 3 — e.g. single HTML file output]</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[Pattern 4 — e.g. 3-reel standard layout]</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[Pattern 5]</a:t>
            </a:r>
            <a:endParaRPr lang="en-US" sz="1200" dirty="0"/>
          </a:p>
        </p:txBody>
      </p:sp>
      <p:sp>
        <p:nvSpPr>
          <p:cNvPr id="8" name="Shape 6"/>
          <p:cNvSpPr/>
          <p:nvPr/>
        </p:nvSpPr>
        <p:spPr>
          <a:xfrm>
            <a:off x="4663440" y="1097280"/>
            <a:ext cx="4023360" cy="3566160"/>
          </a:xfrm>
          <a:prstGeom prst="rect">
            <a:avLst/>
          </a:prstGeom>
          <a:solidFill>
            <a:srgbClr val="FFFFFF"/>
          </a:solidFill>
          <a:ln w="12700">
            <a:solidFill>
              <a:srgbClr val="F96167"/>
            </a:solidFill>
            <a:prstDash val="solid"/>
          </a:ln>
        </p:spPr>
      </p:sp>
      <p:sp>
        <p:nvSpPr>
          <p:cNvPr id="9" name="Shape 7"/>
          <p:cNvSpPr/>
          <p:nvPr/>
        </p:nvSpPr>
        <p:spPr>
          <a:xfrm>
            <a:off x="4663440" y="1097280"/>
            <a:ext cx="4023360" cy="457200"/>
          </a:xfrm>
          <a:prstGeom prst="rect">
            <a:avLst/>
          </a:prstGeom>
          <a:solidFill>
            <a:srgbClr val="F96167"/>
          </a:solidFill>
          <a:ln/>
        </p:spPr>
      </p:sp>
      <p:sp>
        <p:nvSpPr>
          <p:cNvPr id="10" name="Text 8"/>
          <p:cNvSpPr/>
          <p:nvPr/>
        </p:nvSpPr>
        <p:spPr>
          <a:xfrm>
            <a:off x="4846320" y="1097280"/>
            <a:ext cx="3657600" cy="457200"/>
          </a:xfrm>
          <a:prstGeom prst="rect">
            <a:avLst/>
          </a:prstGeom>
          <a:noFill/>
          <a:ln/>
        </p:spPr>
        <p:txBody>
          <a:bodyPr wrap="square" rtlCol="0" anchor="ctr"/>
          <a:lstStyle/>
          <a:p>
            <a:pPr indent="0" marL="0">
              <a:buNone/>
            </a:pPr>
            <a:r>
              <a:rPr lang="en-US" sz="1300" b="1" spc="300" kern="0" dirty="0">
                <a:solidFill>
                  <a:srgbClr val="FFF8E7"/>
                </a:solidFill>
                <a:latin typeface="Calibri" pitchFamily="34" charset="0"/>
                <a:ea typeface="Calibri" pitchFamily="34" charset="-122"/>
                <a:cs typeface="Calibri" pitchFamily="34" charset="-120"/>
              </a:rPr>
              <a:t>WHERE IT DIVERGED</a:t>
            </a:r>
            <a:endParaRPr lang="en-US" sz="1300" dirty="0"/>
          </a:p>
        </p:txBody>
      </p:sp>
      <p:sp>
        <p:nvSpPr>
          <p:cNvPr id="11" name="Text 9"/>
          <p:cNvSpPr/>
          <p:nvPr/>
        </p:nvSpPr>
        <p:spPr>
          <a:xfrm>
            <a:off x="4892040" y="1691640"/>
            <a:ext cx="3657600" cy="2834640"/>
          </a:xfrm>
          <a:prstGeom prst="rect">
            <a:avLst/>
          </a:prstGeom>
          <a:noFill/>
          <a:ln/>
        </p:spPr>
        <p:txBody>
          <a:bodyPr wrap="square"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[Divergence 1 — e.g. visual style range]</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[Divergence 2 — e.g. correctness of payout logic]</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[Divergence 3 — e.g. how 'mocking AI' was interpreted]</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[Divergence 4 — e.g. framework sneak-ins]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[Divergence 5]</a:t>
            </a:r>
            <a:endParaRPr lang="en-US" sz="1200" dirty="0"/>
          </a:p>
        </p:txBody>
      </p:sp>
      <p:sp>
        <p:nvSpPr>
          <p:cNvPr id="12" name="Shape 10"/>
          <p:cNvSpPr/>
          <p:nvPr/>
        </p:nvSpPr>
        <p:spPr>
          <a:xfrm>
            <a:off x="0" y="4937760"/>
            <a:ext cx="9144000" cy="205740"/>
          </a:xfrm>
          <a:prstGeom prst="rect">
            <a:avLst/>
          </a:prstGeom>
          <a:solidFill>
            <a:srgbClr val="2F3C7E"/>
          </a:solidFill>
          <a:ln/>
        </p:spPr>
      </p:sp>
      <p:sp>
        <p:nvSpPr>
          <p:cNvPr id="13" name="Text 11"/>
          <p:cNvSpPr/>
          <p:nvPr/>
        </p:nvSpPr>
        <p:spPr>
          <a:xfrm>
            <a:off x="365760" y="4937760"/>
            <a:ext cx="5486400" cy="205740"/>
          </a:xfrm>
          <a:prstGeom prst="rect">
            <a:avLst/>
          </a:prstGeom>
          <a:noFill/>
          <a:ln/>
        </p:spPr>
        <p:txBody>
          <a:bodyPr wrap="square" rtlCol="0" anchor="ctr"/>
          <a:lstStyle/>
          <a:p>
            <a:pPr indent="0" marL="0">
              <a:buNone/>
            </a:pPr>
            <a:r>
              <a:rPr lang="en-US" sz="900" spc="200" kern="0" dirty="0">
                <a:solidFill>
                  <a:srgbClr val="F9E795"/>
                </a:solidFill>
                <a:latin typeface="Calibri" pitchFamily="34" charset="0"/>
                <a:ea typeface="Calibri" pitchFamily="34" charset="-122"/>
                <a:cs typeface="Calibri" pitchFamily="34" charset="-120"/>
              </a:rPr>
              <a:t>ONE ARM AI SLOT MACHINE  //  CSE 110</a:t>
            </a:r>
            <a:endParaRPr lang="en-US" sz="900" dirty="0"/>
          </a:p>
        </p:txBody>
      </p:sp>
      <p:sp>
        <p:nvSpPr>
          <p:cNvPr id="14" name="Text 12"/>
          <p:cNvSpPr/>
          <p:nvPr/>
        </p:nvSpPr>
        <p:spPr>
          <a:xfrm>
            <a:off x="7863840" y="4937760"/>
            <a:ext cx="914400" cy="205740"/>
          </a:xfrm>
          <a:prstGeom prst="rect">
            <a:avLst/>
          </a:prstGeom>
          <a:noFill/>
          <a:ln/>
        </p:spPr>
        <p:txBody>
          <a:bodyPr wrap="square" rtlCol="0" anchor="ctr"/>
          <a:lstStyle/>
          <a:p>
            <a:pPr algn="r" indent="0" marL="0">
              <a:buNone/>
            </a:pPr>
            <a:r>
              <a:rPr lang="en-US" sz="900" dirty="0">
                <a:solidFill>
                  <a:srgbClr val="F9E795"/>
                </a:solidFill>
                <a:latin typeface="Calibri" pitchFamily="34" charset="0"/>
                <a:ea typeface="Calibri" pitchFamily="34" charset="-122"/>
                <a:cs typeface="Calibri"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457200" y="502920"/>
            <a:ext cx="164592" cy="164592"/>
          </a:xfrm>
          <a:prstGeom prst="rect">
            <a:avLst/>
          </a:prstGeom>
          <a:solidFill>
            <a:srgbClr val="F96167"/>
          </a:solidFill>
          <a:ln/>
        </p:spPr>
      </p:sp>
      <p:sp>
        <p:nvSpPr>
          <p:cNvPr id="3" name="Text 1"/>
          <p:cNvSpPr/>
          <p:nvPr/>
        </p:nvSpPr>
        <p:spPr>
          <a:xfrm>
            <a:off x="731520" y="365760"/>
            <a:ext cx="7955280" cy="502920"/>
          </a:xfrm>
          <a:prstGeom prst="rect">
            <a:avLst/>
          </a:prstGeom>
          <a:noFill/>
          <a:ln/>
        </p:spPr>
        <p:txBody>
          <a:bodyPr wrap="square" lIns="0" tIns="0" rIns="0" bIns="0"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The Final Candidate</a:t>
            </a:r>
            <a:endParaRPr lang="en-US" sz="2800" dirty="0"/>
          </a:p>
        </p:txBody>
      </p:sp>
      <p:sp>
        <p:nvSpPr>
          <p:cNvPr id="4" name="Shape 2"/>
          <p:cNvSpPr/>
          <p:nvPr/>
        </p:nvSpPr>
        <p:spPr>
          <a:xfrm>
            <a:off x="457200" y="1097280"/>
            <a:ext cx="4389120" cy="3566160"/>
          </a:xfrm>
          <a:prstGeom prst="rect">
            <a:avLst/>
          </a:prstGeom>
          <a:solidFill>
            <a:srgbClr val="1A1A2E"/>
          </a:solidFill>
          <a:ln w="12700">
            <a:solidFill>
              <a:srgbClr val="2F3C7E"/>
            </a:solidFill>
            <a:prstDash val="solid"/>
          </a:ln>
        </p:spPr>
      </p:sp>
      <p:sp>
        <p:nvSpPr>
          <p:cNvPr id="5" name="Text 3"/>
          <p:cNvSpPr/>
          <p:nvPr/>
        </p:nvSpPr>
        <p:spPr>
          <a:xfrm>
            <a:off x="457200" y="1371600"/>
            <a:ext cx="4389120" cy="1645920"/>
          </a:xfrm>
          <a:prstGeom prst="rect">
            <a:avLst/>
          </a:prstGeom>
          <a:noFill/>
          <a:ln/>
        </p:spPr>
        <p:txBody>
          <a:bodyPr wrap="square" rtlCol="0" anchor="ctr"/>
          <a:lstStyle/>
          <a:p>
            <a:pPr algn="ctr" indent="0" marL="0">
              <a:buNone/>
            </a:pPr>
            <a:r>
              <a:rPr lang="en-US" sz="7200" dirty="0">
                <a:solidFill>
                  <a:srgbClr val="000000"/>
                </a:solidFill>
              </a:rPr>
              <a:t>🎰</a:t>
            </a:r>
            <a:endParaRPr lang="en-US" sz="7200" dirty="0"/>
          </a:p>
        </p:txBody>
      </p:sp>
      <p:sp>
        <p:nvSpPr>
          <p:cNvPr id="6" name="Text 4"/>
          <p:cNvSpPr/>
          <p:nvPr/>
        </p:nvSpPr>
        <p:spPr>
          <a:xfrm>
            <a:off x="457200" y="2926080"/>
            <a:ext cx="4389120" cy="365760"/>
          </a:xfrm>
          <a:prstGeom prst="rect">
            <a:avLst/>
          </a:prstGeom>
          <a:noFill/>
          <a:ln/>
        </p:spPr>
        <p:txBody>
          <a:bodyPr wrap="square" rtlCol="0" anchor="ctr"/>
          <a:lstStyle/>
          <a:p>
            <a:pPr algn="ctr" indent="0" marL="0">
              <a:buNone/>
            </a:pPr>
            <a:r>
              <a:rPr lang="en-US" sz="1200" b="1" spc="300" kern="0" dirty="0">
                <a:solidFill>
                  <a:srgbClr val="F9E795"/>
                </a:solidFill>
                <a:latin typeface="Calibri" pitchFamily="34" charset="0"/>
                <a:ea typeface="Calibri" pitchFamily="34" charset="-122"/>
                <a:cs typeface="Calibri" pitchFamily="34" charset="-120"/>
              </a:rPr>
              <a:t>[SCREENSHOT / DEMO GIF]</a:t>
            </a:r>
            <a:endParaRPr lang="en-US" sz="1200" dirty="0"/>
          </a:p>
        </p:txBody>
      </p:sp>
      <p:sp>
        <p:nvSpPr>
          <p:cNvPr id="7" name="Text 5"/>
          <p:cNvSpPr/>
          <p:nvPr/>
        </p:nvSpPr>
        <p:spPr>
          <a:xfrm>
            <a:off x="457200" y="3291840"/>
            <a:ext cx="4389120" cy="365760"/>
          </a:xfrm>
          <a:prstGeom prst="rect">
            <a:avLst/>
          </a:prstGeom>
          <a:noFill/>
          <a:ln/>
        </p:spPr>
        <p:txBody>
          <a:bodyPr wrap="square" rtlCol="0" anchor="ctr"/>
          <a:lstStyle/>
          <a:p>
            <a:pPr algn="ctr" indent="0" marL="0">
              <a:buNone/>
            </a:pPr>
            <a:r>
              <a:rPr lang="en-US" sz="1000" i="1" dirty="0">
                <a:solidFill>
                  <a:srgbClr val="FFF8E7"/>
                </a:solidFill>
                <a:latin typeface="Calibri" pitchFamily="34" charset="0"/>
                <a:ea typeface="Calibri" pitchFamily="34" charset="-122"/>
                <a:cs typeface="Calibri" pitchFamily="34" charset="-120"/>
              </a:rPr>
              <a:t>replace this block with step5/candidate-0XX final image</a:t>
            </a:r>
            <a:endParaRPr lang="en-US" sz="1000" dirty="0"/>
          </a:p>
        </p:txBody>
      </p:sp>
      <p:sp>
        <p:nvSpPr>
          <p:cNvPr id="8" name="Text 6"/>
          <p:cNvSpPr/>
          <p:nvPr/>
        </p:nvSpPr>
        <p:spPr>
          <a:xfrm>
            <a:off x="5120640" y="1097280"/>
            <a:ext cx="3657600" cy="274320"/>
          </a:xfrm>
          <a:prstGeom prst="rect">
            <a:avLst/>
          </a:prstGeom>
          <a:noFill/>
          <a:ln/>
        </p:spPr>
        <p:txBody>
          <a:bodyPr wrap="square"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LINEAGE</a:t>
            </a:r>
            <a:endParaRPr lang="en-US" sz="1100" dirty="0"/>
          </a:p>
        </p:txBody>
      </p:sp>
      <p:sp>
        <p:nvSpPr>
          <p:cNvPr id="9" name="Text 7"/>
          <p:cNvSpPr/>
          <p:nvPr/>
        </p:nvSpPr>
        <p:spPr>
          <a:xfrm>
            <a:off x="5120640" y="1371600"/>
            <a:ext cx="3657600" cy="1005840"/>
          </a:xfrm>
          <a:prstGeom prst="rect">
            <a:avLst/>
          </a:prstGeom>
          <a:noFill/>
          <a:ln/>
        </p:spPr>
        <p:txBody>
          <a:bodyPr wrap="square" rtlCol="0" anchor="ctr"/>
          <a:lstStyle/>
          <a:p>
            <a:pPr indent="0" marL="0">
              <a:spcAft>
                <a:spcPts val="200"/>
              </a:spcAft>
              <a:buNone/>
            </a:pPr>
            <a:r>
              <a:rPr lang="en-US" sz="1200" b="1" dirty="0">
                <a:solidFill>
                  <a:srgbClr val="1A1A2E"/>
                </a:solidFill>
                <a:latin typeface="Calibri" pitchFamily="34" charset="0"/>
                <a:ea typeface="Calibri" pitchFamily="34" charset="-122"/>
                <a:cs typeface="Calibri" pitchFamily="34" charset="-120"/>
              </a:rPr>
              <a:t>Origin:  </a:t>
            </a:r>
            <a:pPr indent="0" marL="0">
              <a:spcAft>
                <a:spcPts val="200"/>
              </a:spcAft>
              <a:buNone/>
            </a:pPr>
            <a:r>
              <a:rPr lang="en-US" sz="1200" dirty="0">
                <a:solidFill>
                  <a:srgbClr val="1A1A2E"/>
                </a:solidFill>
                <a:latin typeface="Calibri" pitchFamily="34" charset="0"/>
                <a:ea typeface="Calibri" pitchFamily="34" charset="-122"/>
                <a:cs typeface="Calibri" pitchFamily="34" charset="-120"/>
              </a:rPr>
              <a:t>candidate-[XX]</a:t>
            </a:r>
            <a:endParaRPr lang="en-US" sz="1200" dirty="0"/>
          </a:p>
          <a:p>
            <a:pPr indent="0" marL="0">
              <a:spcAft>
                <a:spcPts val="200"/>
              </a:spcAft>
              <a:buNone/>
            </a:pPr>
            <a:r>
              <a:rPr lang="en-US" sz="1200" b="1" dirty="0">
                <a:solidFill>
                  <a:srgbClr val="1A1A2E"/>
                </a:solidFill>
                <a:latin typeface="Calibri" pitchFamily="34" charset="0"/>
                <a:ea typeface="Calibri" pitchFamily="34" charset="-122"/>
                <a:cs typeface="Calibri" pitchFamily="34" charset="-120"/>
              </a:rPr>
              <a:t>Path:  </a:t>
            </a:r>
            <a:pPr indent="0" marL="0">
              <a:spcAft>
                <a:spcPts val="200"/>
              </a:spcAft>
              <a:buNone/>
            </a:pPr>
            <a:r>
              <a:rPr lang="en-US" sz="1200" dirty="0">
                <a:solidFill>
                  <a:srgbClr val="1A1A2E"/>
                </a:solidFill>
                <a:latin typeface="Calibri" pitchFamily="34" charset="0"/>
                <a:ea typeface="Calibri" pitchFamily="34" charset="-122"/>
                <a:cs typeface="Calibri" pitchFamily="34" charset="-120"/>
              </a:rPr>
              <a:t>step1 → step2 → step3 → step4 → step5</a:t>
            </a:r>
            <a:endParaRPr lang="en-US" sz="1200" dirty="0"/>
          </a:p>
          <a:p>
            <a:pPr indent="0" marL="0">
              <a:spcAft>
                <a:spcPts val="200"/>
              </a:spcAft>
              <a:buNone/>
            </a:pPr>
            <a:r>
              <a:rPr lang="en-US" sz="1200" b="1" dirty="0">
                <a:solidFill>
                  <a:srgbClr val="1A1A2E"/>
                </a:solidFill>
                <a:latin typeface="Calibri" pitchFamily="34" charset="0"/>
                <a:ea typeface="Calibri" pitchFamily="34" charset="-122"/>
                <a:cs typeface="Calibri" pitchFamily="34" charset="-120"/>
              </a:rPr>
              <a:t>Final file:  </a:t>
            </a:r>
            <a:pPr indent="0" marL="0">
              <a:spcAft>
                <a:spcPts val="200"/>
              </a:spcAft>
              <a:buNone/>
            </a:pPr>
            <a:r>
              <a:rPr lang="en-US" sz="1200" dirty="0">
                <a:solidFill>
                  <a:srgbClr val="1A1A2E"/>
                </a:solidFill>
                <a:latin typeface="Calibri" pitchFamily="34" charset="0"/>
                <a:ea typeface="Calibri" pitchFamily="34" charset="-122"/>
                <a:cs typeface="Calibri" pitchFamily="34" charset="-120"/>
              </a:rPr>
              <a:t>step5/candidate-[XX]-refinement-4/</a:t>
            </a:r>
            <a:endParaRPr lang="en-US" sz="1200" dirty="0"/>
          </a:p>
        </p:txBody>
      </p:sp>
      <p:sp>
        <p:nvSpPr>
          <p:cNvPr id="10" name="Text 8"/>
          <p:cNvSpPr/>
          <p:nvPr/>
        </p:nvSpPr>
        <p:spPr>
          <a:xfrm>
            <a:off x="5120640" y="2560320"/>
            <a:ext cx="3657600" cy="274320"/>
          </a:xfrm>
          <a:prstGeom prst="rect">
            <a:avLst/>
          </a:prstGeom>
          <a:noFill/>
          <a:ln/>
        </p:spPr>
        <p:txBody>
          <a:bodyPr wrap="square"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WHY THIS ONE</a:t>
            </a:r>
            <a:endParaRPr lang="en-US" sz="1100" dirty="0"/>
          </a:p>
        </p:txBody>
      </p:sp>
      <p:sp>
        <p:nvSpPr>
          <p:cNvPr id="11" name="Text 9"/>
          <p:cNvSpPr/>
          <p:nvPr/>
        </p:nvSpPr>
        <p:spPr>
          <a:xfrm>
            <a:off x="5120640" y="2834640"/>
            <a:ext cx="3657600" cy="1828800"/>
          </a:xfrm>
          <a:prstGeom prst="rect">
            <a:avLst/>
          </a:prstGeom>
          <a:noFill/>
          <a:ln/>
        </p:spPr>
        <p:txBody>
          <a:bodyPr wrap="square" rtlCol="0" anchor="t"/>
          <a:lstStyle/>
          <a:p>
            <a:pPr marL="342900" indent="-342900">
              <a:spcAft>
                <a:spcPts val="300"/>
              </a:spcAft>
              <a:buSzPct val="100000"/>
              <a:buChar char="•"/>
            </a:pPr>
            <a:r>
              <a:rPr lang="en-US" sz="1200" dirty="0">
                <a:solidFill>
                  <a:srgbClr val="1A1A2E"/>
                </a:solidFill>
                <a:latin typeface="Calibri" pitchFamily="34" charset="0"/>
                <a:ea typeface="Calibri" pitchFamily="34" charset="-122"/>
                <a:cs typeface="Calibri" pitchFamily="34" charset="-120"/>
              </a:rPr>
              <a:t>[Reason 1 — scored highest on rubric criteria X and Y]</a:t>
            </a:r>
            <a:endParaRPr lang="en-US" sz="1200" dirty="0"/>
          </a:p>
          <a:p>
            <a:pPr marL="342900" indent="-342900">
              <a:spcAft>
                <a:spcPts val="300"/>
              </a:spcAft>
              <a:buSzPct val="100000"/>
              <a:buChar char="•"/>
            </a:pPr>
            <a:r>
              <a:rPr lang="en-US" sz="1200" dirty="0">
                <a:solidFill>
                  <a:srgbClr val="1A1A2E"/>
                </a:solidFill>
                <a:latin typeface="Calibri" pitchFamily="34" charset="0"/>
                <a:ea typeface="Calibri" pitchFamily="34" charset="-122"/>
                <a:cs typeface="Calibri" pitchFamily="34" charset="-120"/>
              </a:rPr>
              <a:t>[Reason 2 — cleanest code structure of the final 2]</a:t>
            </a:r>
            <a:endParaRPr lang="en-US" sz="1200" dirty="0"/>
          </a:p>
          <a:p>
            <a:pPr marL="342900" indent="-342900">
              <a:spcAft>
                <a:spcPts val="300"/>
              </a:spcAft>
              <a:buSzPct val="100000"/>
              <a:buChar char="•"/>
            </a:pPr>
            <a:r>
              <a:rPr lang="en-US" sz="1200" dirty="0">
                <a:solidFill>
                  <a:srgbClr val="1A1A2E"/>
                </a:solidFill>
                <a:latin typeface="Calibri" pitchFamily="34" charset="0"/>
                <a:ea typeface="Calibri" pitchFamily="34" charset="-122"/>
                <a:cs typeface="Calibri" pitchFamily="34" charset="-120"/>
              </a:rPr>
              <a:t>[Reason 3 — most coherent AI-mocking theme]</a:t>
            </a:r>
            <a:endParaRPr lang="en-US" sz="1200" dirty="0"/>
          </a:p>
        </p:txBody>
      </p:sp>
      <p:sp>
        <p:nvSpPr>
          <p:cNvPr id="12" name="Shape 10"/>
          <p:cNvSpPr/>
          <p:nvPr/>
        </p:nvSpPr>
        <p:spPr>
          <a:xfrm>
            <a:off x="0" y="4937760"/>
            <a:ext cx="9144000" cy="205740"/>
          </a:xfrm>
          <a:prstGeom prst="rect">
            <a:avLst/>
          </a:prstGeom>
          <a:solidFill>
            <a:srgbClr val="2F3C7E"/>
          </a:solidFill>
          <a:ln/>
        </p:spPr>
      </p:sp>
      <p:sp>
        <p:nvSpPr>
          <p:cNvPr id="13" name="Text 11"/>
          <p:cNvSpPr/>
          <p:nvPr/>
        </p:nvSpPr>
        <p:spPr>
          <a:xfrm>
            <a:off x="365760" y="4937760"/>
            <a:ext cx="5486400" cy="205740"/>
          </a:xfrm>
          <a:prstGeom prst="rect">
            <a:avLst/>
          </a:prstGeom>
          <a:noFill/>
          <a:ln/>
        </p:spPr>
        <p:txBody>
          <a:bodyPr wrap="square" rtlCol="0" anchor="ctr"/>
          <a:lstStyle/>
          <a:p>
            <a:pPr indent="0" marL="0">
              <a:buNone/>
            </a:pPr>
            <a:r>
              <a:rPr lang="en-US" sz="900" spc="200" kern="0" dirty="0">
                <a:solidFill>
                  <a:srgbClr val="F9E795"/>
                </a:solidFill>
                <a:latin typeface="Calibri" pitchFamily="34" charset="0"/>
                <a:ea typeface="Calibri" pitchFamily="34" charset="-122"/>
                <a:cs typeface="Calibri" pitchFamily="34" charset="-120"/>
              </a:rPr>
              <a:t>ONE ARM AI SLOT MACHINE  //  CSE 110</a:t>
            </a:r>
            <a:endParaRPr lang="en-US" sz="900" dirty="0"/>
          </a:p>
        </p:txBody>
      </p:sp>
      <p:sp>
        <p:nvSpPr>
          <p:cNvPr id="14" name="Text 12"/>
          <p:cNvSpPr/>
          <p:nvPr/>
        </p:nvSpPr>
        <p:spPr>
          <a:xfrm>
            <a:off x="7863840" y="4937760"/>
            <a:ext cx="914400" cy="205740"/>
          </a:xfrm>
          <a:prstGeom prst="rect">
            <a:avLst/>
          </a:prstGeom>
          <a:noFill/>
          <a:ln/>
        </p:spPr>
        <p:txBody>
          <a:bodyPr wrap="square" rtlCol="0" anchor="ctr"/>
          <a:lstStyle/>
          <a:p>
            <a:pPr algn="r" indent="0" marL="0">
              <a:buNone/>
            </a:pPr>
            <a:r>
              <a:rPr lang="en-US" sz="900" dirty="0">
                <a:solidFill>
                  <a:srgbClr val="F9E795"/>
                </a:solidFill>
                <a:latin typeface="Calibri" pitchFamily="34" charset="0"/>
                <a:ea typeface="Calibri" pitchFamily="34" charset="-122"/>
                <a:cs typeface="Calibri"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457200" y="502920"/>
            <a:ext cx="164592" cy="164592"/>
          </a:xfrm>
          <a:prstGeom prst="rect">
            <a:avLst/>
          </a:prstGeom>
          <a:solidFill>
            <a:srgbClr val="F96167"/>
          </a:solidFill>
          <a:ln/>
        </p:spPr>
      </p:sp>
      <p:sp>
        <p:nvSpPr>
          <p:cNvPr id="3" name="Text 1"/>
          <p:cNvSpPr/>
          <p:nvPr/>
        </p:nvSpPr>
        <p:spPr>
          <a:xfrm>
            <a:off x="731520" y="365760"/>
            <a:ext cx="7955280" cy="502920"/>
          </a:xfrm>
          <a:prstGeom prst="rect">
            <a:avLst/>
          </a:prstGeom>
          <a:noFill/>
          <a:ln/>
        </p:spPr>
        <p:txBody>
          <a:bodyPr wrap="square" lIns="0" tIns="0" rIns="0" bIns="0" rtlCol="0" anchor="ctr"/>
          <a:lstStyle/>
          <a:p>
            <a:pPr indent="0" marL="0">
              <a:buNone/>
            </a:pPr>
            <a:r>
              <a:rPr lang="en-US" sz="2800" b="1" dirty="0">
                <a:solidFill>
                  <a:srgbClr val="FFF8E7"/>
                </a:solidFill>
                <a:latin typeface="Georgia" pitchFamily="34" charset="0"/>
                <a:ea typeface="Georgia" pitchFamily="34" charset="-122"/>
                <a:cs typeface="Georgia" pitchFamily="34" charset="-120"/>
              </a:rPr>
              <a:t>Takeaways &amp; Honest Limits</a:t>
            </a:r>
            <a:endParaRPr lang="en-US" sz="2800" dirty="0"/>
          </a:p>
        </p:txBody>
      </p:sp>
      <p:sp>
        <p:nvSpPr>
          <p:cNvPr id="4" name="Text 2"/>
          <p:cNvSpPr/>
          <p:nvPr/>
        </p:nvSpPr>
        <p:spPr>
          <a:xfrm>
            <a:off x="457200" y="1188720"/>
            <a:ext cx="4114800" cy="320040"/>
          </a:xfrm>
          <a:prstGeom prst="rect">
            <a:avLst/>
          </a:prstGeom>
          <a:noFill/>
          <a:ln/>
        </p:spPr>
        <p:txBody>
          <a:bodyPr wrap="square" rtlCol="0" anchor="ctr"/>
          <a:lstStyle/>
          <a:p>
            <a:pPr indent="0" marL="0">
              <a:buNone/>
            </a:pPr>
            <a:r>
              <a:rPr lang="en-US" sz="1200" b="1" spc="300" kern="0" dirty="0">
                <a:solidFill>
                  <a:srgbClr val="F9E795"/>
                </a:solidFill>
                <a:latin typeface="Calibri" pitchFamily="34" charset="0"/>
                <a:ea typeface="Calibri" pitchFamily="34" charset="-122"/>
                <a:cs typeface="Calibri" pitchFamily="34" charset="-120"/>
              </a:rPr>
              <a:t>WHAT WE LEARNED</a:t>
            </a:r>
            <a:endParaRPr lang="en-US" sz="1200" dirty="0"/>
          </a:p>
        </p:txBody>
      </p:sp>
      <p:sp>
        <p:nvSpPr>
          <p:cNvPr id="5" name="Text 3"/>
          <p:cNvSpPr/>
          <p:nvPr/>
        </p:nvSpPr>
        <p:spPr>
          <a:xfrm>
            <a:off x="457200" y="1554480"/>
            <a:ext cx="4114800" cy="3017520"/>
          </a:xfrm>
          <a:prstGeom prst="rect">
            <a:avLst/>
          </a:prstGeom>
          <a:noFill/>
          <a:ln/>
        </p:spPr>
        <p:txBody>
          <a:bodyPr wrap="square" rtlCol="0" anchor="t"/>
          <a:lstStyle/>
          <a:p>
            <a:pPr indent="0" marL="0">
              <a:spcAft>
                <a:spcPts val="800"/>
              </a:spcAft>
              <a:buNone/>
            </a:pPr>
            <a:r>
              <a:rPr lang="en-US" sz="1300" b="1" dirty="0">
                <a:solidFill>
                  <a:srgbClr val="F96167"/>
                </a:solidFill>
                <a:latin typeface="Calibri" pitchFamily="34" charset="0"/>
                <a:ea typeface="Calibri" pitchFamily="34" charset="-122"/>
                <a:cs typeface="Calibri" pitchFamily="34" charset="-120"/>
              </a:rPr>
              <a:t>1.  </a:t>
            </a:r>
            <a:pPr indent="0" marL="0">
              <a:spcAft>
                <a:spcPts val="800"/>
              </a:spcAft>
              <a:buNone/>
            </a:pPr>
            <a:r>
              <a:rPr lang="en-US" sz="1300" dirty="0">
                <a:solidFill>
                  <a:srgbClr val="FFF8E7"/>
                </a:solidFill>
                <a:latin typeface="Calibri" pitchFamily="34" charset="0"/>
                <a:ea typeface="Calibri" pitchFamily="34" charset="-122"/>
                <a:cs typeface="Calibri" pitchFamily="34" charset="-120"/>
              </a:rPr>
              <a:t>[Takeaway about consistency across 50 runs]</a:t>
            </a:r>
            <a:endParaRPr lang="en-US" sz="1300" dirty="0"/>
          </a:p>
          <a:p>
            <a:pPr indent="0" marL="0">
              <a:spcAft>
                <a:spcPts val="800"/>
              </a:spcAft>
              <a:buNone/>
            </a:pPr>
            <a:r>
              <a:rPr lang="en-US" sz="1300" b="1" dirty="0">
                <a:solidFill>
                  <a:srgbClr val="F96167"/>
                </a:solidFill>
                <a:latin typeface="Calibri" pitchFamily="34" charset="0"/>
                <a:ea typeface="Calibri" pitchFamily="34" charset="-122"/>
                <a:cs typeface="Calibri" pitchFamily="34" charset="-120"/>
              </a:rPr>
              <a:t>2.  </a:t>
            </a:r>
            <a:pPr indent="0" marL="0">
              <a:spcAft>
                <a:spcPts val="800"/>
              </a:spcAft>
              <a:buNone/>
            </a:pPr>
            <a:r>
              <a:rPr lang="en-US" sz="1300" dirty="0">
                <a:solidFill>
                  <a:srgbClr val="FFF8E7"/>
                </a:solidFill>
                <a:latin typeface="Calibri" pitchFamily="34" charset="0"/>
                <a:ea typeface="Calibri" pitchFamily="34" charset="-122"/>
                <a:cs typeface="Calibri" pitchFamily="34" charset="-120"/>
              </a:rPr>
              <a:t>[Takeaway about what refinement actually improved]</a:t>
            </a:r>
            <a:endParaRPr lang="en-US" sz="1300" dirty="0"/>
          </a:p>
          <a:p>
            <a:pPr indent="0" marL="0">
              <a:spcAft>
                <a:spcPts val="800"/>
              </a:spcAft>
              <a:buNone/>
            </a:pPr>
            <a:r>
              <a:rPr lang="en-US" sz="1300" b="1" dirty="0">
                <a:solidFill>
                  <a:srgbClr val="F96167"/>
                </a:solidFill>
                <a:latin typeface="Calibri" pitchFamily="34" charset="0"/>
                <a:ea typeface="Calibri" pitchFamily="34" charset="-122"/>
                <a:cs typeface="Calibri" pitchFamily="34" charset="-120"/>
              </a:rPr>
              <a:t>3.  </a:t>
            </a:r>
            <a:pPr indent="0" marL="0">
              <a:spcAft>
                <a:spcPts val="800"/>
              </a:spcAft>
              <a:buNone/>
            </a:pPr>
            <a:r>
              <a:rPr lang="en-US" sz="1300" dirty="0">
                <a:solidFill>
                  <a:srgbClr val="FFF8E7"/>
                </a:solidFill>
                <a:latin typeface="Calibri" pitchFamily="34" charset="0"/>
                <a:ea typeface="Calibri" pitchFamily="34" charset="-122"/>
                <a:cs typeface="Calibri" pitchFamily="34" charset="-120"/>
              </a:rPr>
              <a:t>[Takeaway about the ceiling of simple prompting]</a:t>
            </a:r>
            <a:endParaRPr lang="en-US" sz="1300" dirty="0"/>
          </a:p>
          <a:p>
            <a:pPr indent="0" marL="0">
              <a:spcAft>
                <a:spcPts val="800"/>
              </a:spcAft>
              <a:buNone/>
            </a:pPr>
            <a:r>
              <a:rPr lang="en-US" sz="1300" b="1" dirty="0">
                <a:solidFill>
                  <a:srgbClr val="F96167"/>
                </a:solidFill>
                <a:latin typeface="Calibri" pitchFamily="34" charset="0"/>
                <a:ea typeface="Calibri" pitchFamily="34" charset="-122"/>
                <a:cs typeface="Calibri" pitchFamily="34" charset="-120"/>
              </a:rPr>
              <a:t>4.  </a:t>
            </a:r>
            <a:pPr indent="0" marL="0">
              <a:spcAft>
                <a:spcPts val="800"/>
              </a:spcAft>
              <a:buNone/>
            </a:pPr>
            <a:r>
              <a:rPr lang="en-US" sz="1300" dirty="0">
                <a:solidFill>
                  <a:srgbClr val="FFF8E7"/>
                </a:solidFill>
                <a:latin typeface="Calibri" pitchFamily="34" charset="0"/>
                <a:ea typeface="Calibri" pitchFamily="34" charset="-122"/>
                <a:cs typeface="Calibri" pitchFamily="34" charset="-120"/>
              </a:rPr>
              <a:t>[Takeaway about our team / process]</a:t>
            </a:r>
            <a:endParaRPr lang="en-US" sz="1300" dirty="0"/>
          </a:p>
        </p:txBody>
      </p:sp>
      <p:sp>
        <p:nvSpPr>
          <p:cNvPr id="6" name="Shape 4"/>
          <p:cNvSpPr/>
          <p:nvPr/>
        </p:nvSpPr>
        <p:spPr>
          <a:xfrm>
            <a:off x="4846320" y="1188720"/>
            <a:ext cx="3840480" cy="3291840"/>
          </a:xfrm>
          <a:prstGeom prst="rect">
            <a:avLst/>
          </a:prstGeom>
          <a:solidFill>
            <a:srgbClr val="2F3C7E"/>
          </a:solidFill>
          <a:ln/>
        </p:spPr>
      </p:sp>
      <p:sp>
        <p:nvSpPr>
          <p:cNvPr id="7" name="Shape 5"/>
          <p:cNvSpPr/>
          <p:nvPr/>
        </p:nvSpPr>
        <p:spPr>
          <a:xfrm>
            <a:off x="4846320" y="1188720"/>
            <a:ext cx="91440" cy="3291840"/>
          </a:xfrm>
          <a:prstGeom prst="rect">
            <a:avLst/>
          </a:prstGeom>
          <a:solidFill>
            <a:srgbClr val="F96167"/>
          </a:solidFill>
          <a:ln/>
        </p:spPr>
      </p:sp>
      <p:sp>
        <p:nvSpPr>
          <p:cNvPr id="8" name="Text 6"/>
          <p:cNvSpPr/>
          <p:nvPr/>
        </p:nvSpPr>
        <p:spPr>
          <a:xfrm>
            <a:off x="5074920" y="1325880"/>
            <a:ext cx="3566160" cy="320040"/>
          </a:xfrm>
          <a:prstGeom prst="rect">
            <a:avLst/>
          </a:prstGeom>
          <a:noFill/>
          <a:ln/>
        </p:spPr>
        <p:txBody>
          <a:bodyPr wrap="square" rtlCol="0" anchor="ctr"/>
          <a:lstStyle/>
          <a:p>
            <a:pPr indent="0" marL="0">
              <a:buNone/>
            </a:pPr>
            <a:r>
              <a:rPr lang="en-US" sz="1200" b="1" spc="300" kern="0" dirty="0">
                <a:solidFill>
                  <a:srgbClr val="F9E795"/>
                </a:solidFill>
                <a:latin typeface="Calibri" pitchFamily="34" charset="0"/>
                <a:ea typeface="Calibri" pitchFamily="34" charset="-122"/>
                <a:cs typeface="Calibri" pitchFamily="34" charset="-120"/>
              </a:rPr>
              <a:t>LIMITATIONS</a:t>
            </a:r>
            <a:endParaRPr lang="en-US" sz="1200" dirty="0"/>
          </a:p>
        </p:txBody>
      </p:sp>
      <p:sp>
        <p:nvSpPr>
          <p:cNvPr id="9" name="Text 7"/>
          <p:cNvSpPr/>
          <p:nvPr/>
        </p:nvSpPr>
        <p:spPr>
          <a:xfrm>
            <a:off x="5074920" y="1691640"/>
            <a:ext cx="3474720" cy="2651760"/>
          </a:xfrm>
          <a:prstGeom prst="rect">
            <a:avLst/>
          </a:prstGeom>
          <a:noFill/>
          <a:ln/>
        </p:spPr>
        <p:txBody>
          <a:bodyPr wrap="square" rtlCol="0" anchor="t"/>
          <a:lstStyle/>
          <a:p>
            <a:pPr marL="342900" indent="-342900">
              <a:spcAft>
                <a:spcPts val="500"/>
              </a:spcAft>
              <a:buSzPct val="100000"/>
              <a:buChar char="•"/>
            </a:pPr>
            <a:r>
              <a:rPr lang="en-US" sz="1200" dirty="0">
                <a:solidFill>
                  <a:srgbClr val="FFF8E7"/>
                </a:solidFill>
                <a:latin typeface="Calibri" pitchFamily="34" charset="0"/>
                <a:ea typeface="Calibri" pitchFamily="34" charset="-122"/>
                <a:cs typeface="Calibri" pitchFamily="34" charset="-120"/>
              </a:rPr>
              <a:t>Not a benchmark of any specific model</a:t>
            </a:r>
            <a:endParaRPr lang="en-US" sz="1200" dirty="0"/>
          </a:p>
          <a:p>
            <a:pPr marL="342900" indent="-342900">
              <a:spcAft>
                <a:spcPts val="500"/>
              </a:spcAft>
              <a:buSzPct val="100000"/>
              <a:buChar char="•"/>
            </a:pPr>
            <a:r>
              <a:rPr lang="en-US" sz="1200" dirty="0">
                <a:solidFill>
                  <a:srgbClr val="FFF8E7"/>
                </a:solidFill>
                <a:latin typeface="Calibri" pitchFamily="34" charset="0"/>
                <a:ea typeface="Calibri" pitchFamily="34" charset="-122"/>
                <a:cs typeface="Calibri" pitchFamily="34" charset="-120"/>
              </a:rPr>
              <a:t>Sample size (n=50) is small; task is narrow</a:t>
            </a:r>
            <a:endParaRPr lang="en-US" sz="1200" dirty="0"/>
          </a:p>
          <a:p>
            <a:pPr marL="342900" indent="-342900">
              <a:spcAft>
                <a:spcPts val="500"/>
              </a:spcAft>
              <a:buSzPct val="100000"/>
              <a:buChar char="•"/>
            </a:pPr>
            <a:r>
              <a:rPr lang="en-US" sz="1200" dirty="0">
                <a:solidFill>
                  <a:srgbClr val="FFF8E7"/>
                </a:solidFill>
                <a:latin typeface="Calibri" pitchFamily="34" charset="0"/>
                <a:ea typeface="Calibri" pitchFamily="34" charset="-122"/>
                <a:cs typeface="Calibri" pitchFamily="34" charset="-120"/>
              </a:rPr>
              <a:t>Not a test of agentic software engineering</a:t>
            </a:r>
            <a:endParaRPr lang="en-US" sz="1200" dirty="0"/>
          </a:p>
          <a:p>
            <a:pPr marL="342900" indent="-342900">
              <a:spcAft>
                <a:spcPts val="500"/>
              </a:spcAft>
              <a:buSzPct val="100000"/>
              <a:buChar char="•"/>
            </a:pPr>
            <a:r>
              <a:rPr lang="en-US" sz="1200" dirty="0">
                <a:solidFill>
                  <a:srgbClr val="FFF8E7"/>
                </a:solidFill>
                <a:latin typeface="Calibri" pitchFamily="34" charset="0"/>
                <a:ea typeface="Calibri" pitchFamily="34" charset="-122"/>
                <a:cs typeface="Calibri" pitchFamily="34" charset="-120"/>
              </a:rPr>
              <a:t>Frozen-prompt rule handicaps what a skilled prompter could achieve</a:t>
            </a:r>
            <a:endParaRPr lang="en-US" sz="1200" dirty="0"/>
          </a:p>
          <a:p>
            <a:pPr marL="342900" indent="-342900">
              <a:spcAft>
                <a:spcPts val="500"/>
              </a:spcAft>
              <a:buSzPct val="100000"/>
              <a:buChar char="•"/>
            </a:pPr>
            <a:r>
              <a:rPr lang="en-US" sz="1200" dirty="0">
                <a:solidFill>
                  <a:srgbClr val="FFF8E7"/>
                </a:solidFill>
                <a:latin typeface="Calibri" pitchFamily="34" charset="0"/>
                <a:ea typeface="Calibri" pitchFamily="34" charset="-122"/>
                <a:cs typeface="Calibri" pitchFamily="34" charset="-120"/>
              </a:rPr>
              <a:t>[Any team-specific caveat we noticed]</a:t>
            </a:r>
            <a:endParaRPr lang="en-US" sz="1200" dirty="0"/>
          </a:p>
        </p:txBody>
      </p:sp>
      <p:sp>
        <p:nvSpPr>
          <p:cNvPr id="10" name="Text 8"/>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300" i="1" dirty="0">
                <a:solidFill>
                  <a:srgbClr val="F9E795"/>
                </a:solidFill>
                <a:latin typeface="Calibri" pitchFamily="34" charset="0"/>
                <a:ea typeface="Calibri" pitchFamily="34" charset="-122"/>
                <a:cs typeface="Calibri" pitchFamily="34" charset="-120"/>
              </a:rPr>
              <a:t>Thanks — questions?</a:t>
            </a:r>
            <a:endParaRPr lang="en-US" sz="1300" dirty="0"/>
          </a:p>
        </p:txBody>
      </p:sp>
      <p:sp>
        <p:nvSpPr>
          <p:cNvPr id="11" name="Shape 9"/>
          <p:cNvSpPr/>
          <p:nvPr/>
        </p:nvSpPr>
        <p:spPr>
          <a:xfrm>
            <a:off x="0" y="4937760"/>
            <a:ext cx="9144000" cy="205740"/>
          </a:xfrm>
          <a:prstGeom prst="rect">
            <a:avLst/>
          </a:prstGeom>
          <a:solidFill>
            <a:srgbClr val="F96167"/>
          </a:solidFill>
          <a:ln/>
        </p:spPr>
      </p:sp>
      <p:sp>
        <p:nvSpPr>
          <p:cNvPr id="12" name="Text 10"/>
          <p:cNvSpPr/>
          <p:nvPr/>
        </p:nvSpPr>
        <p:spPr>
          <a:xfrm>
            <a:off x="365760" y="4937760"/>
            <a:ext cx="5486400" cy="205740"/>
          </a:xfrm>
          <a:prstGeom prst="rect">
            <a:avLst/>
          </a:prstGeom>
          <a:noFill/>
          <a:ln/>
        </p:spPr>
        <p:txBody>
          <a:bodyPr wrap="square" rtlCol="0" anchor="ctr"/>
          <a:lstStyle/>
          <a:p>
            <a:pPr indent="0" marL="0">
              <a:buNone/>
            </a:pPr>
            <a:r>
              <a:rPr lang="en-US" sz="900" spc="200" kern="0" dirty="0">
                <a:solidFill>
                  <a:srgbClr val="FFF8E7"/>
                </a:solidFill>
                <a:latin typeface="Calibri" pitchFamily="34" charset="0"/>
                <a:ea typeface="Calibri" pitchFamily="34" charset="-122"/>
                <a:cs typeface="Calibri" pitchFamily="34" charset="-120"/>
              </a:rPr>
              <a:t>ONE ARM AI SLOT MACHINE  //  CSE 110</a:t>
            </a:r>
            <a:endParaRPr lang="en-US" sz="900" dirty="0"/>
          </a:p>
        </p:txBody>
      </p:sp>
      <p:sp>
        <p:nvSpPr>
          <p:cNvPr id="13" name="Text 11"/>
          <p:cNvSpPr/>
          <p:nvPr/>
        </p:nvSpPr>
        <p:spPr>
          <a:xfrm>
            <a:off x="7863840" y="4937760"/>
            <a:ext cx="914400" cy="205740"/>
          </a:xfrm>
          <a:prstGeom prst="rect">
            <a:avLst/>
          </a:prstGeom>
          <a:noFill/>
          <a:ln/>
        </p:spPr>
        <p:txBody>
          <a:bodyPr wrap="square" rtlCol="0" anchor="ctr"/>
          <a:lstStyle/>
          <a:p>
            <a:pPr algn="r" indent="0" marL="0">
              <a:buNone/>
            </a:pPr>
            <a:r>
              <a:rPr lang="en-US" sz="900" dirty="0">
                <a:solidFill>
                  <a:srgbClr val="FFF8E7"/>
                </a:solidFill>
                <a:latin typeface="Calibri" pitchFamily="34" charset="0"/>
                <a:ea typeface="Calibri" pitchFamily="34" charset="-122"/>
                <a:cs typeface="Calibri" pitchFamily="34" charset="-120"/>
              </a:rPr>
              <a:t>7 /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Arm AI Slot Machine — Experiment Report</dc:title>
  <dc:subject>PptxGenJS Presentation</dc:subject>
  <dc:creator>CSE 110 Team</dc:creator>
  <cp:lastModifiedBy>CSE 110 Team</cp:lastModifiedBy>
  <cp:revision>1</cp:revision>
  <dcterms:created xsi:type="dcterms:W3CDTF">2026-04-14T20:17:47Z</dcterms:created>
  <dcterms:modified xsi:type="dcterms:W3CDTF">2026-04-14T20:17:47Z</dcterms:modified>
</cp:coreProperties>
</file>